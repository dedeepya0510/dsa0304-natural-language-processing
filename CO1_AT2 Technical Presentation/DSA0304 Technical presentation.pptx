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0"/>
  </p:notesMasterIdLst>
  <p:sldIdLst>
    <p:sldId id="256" r:id="rId2"/>
    <p:sldId id="257" r:id="rId3"/>
    <p:sldId id="260" r:id="rId4"/>
    <p:sldId id="258" r:id="rId5"/>
    <p:sldId id="282" r:id="rId6"/>
    <p:sldId id="259" r:id="rId7"/>
    <p:sldId id="283" r:id="rId8"/>
    <p:sldId id="280" r:id="rId9"/>
  </p:sldIdLst>
  <p:sldSz cx="20104100" cy="11309350"/>
  <p:notesSz cx="20104100" cy="1130935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144" autoAdjust="0"/>
    <p:restoredTop sz="92998" autoAdjust="0"/>
  </p:normalViewPr>
  <p:slideViewPr>
    <p:cSldViewPr>
      <p:cViewPr varScale="1">
        <p:scale>
          <a:sx n="47" d="100"/>
          <a:sy n="47" d="100"/>
        </p:scale>
        <p:origin x="850" y="43"/>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8712200" cy="56673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11387138" y="0"/>
            <a:ext cx="8712200" cy="566738"/>
          </a:xfrm>
          <a:prstGeom prst="rect">
            <a:avLst/>
          </a:prstGeom>
        </p:spPr>
        <p:txBody>
          <a:bodyPr vert="horz" lIns="91440" tIns="45720" rIns="91440" bIns="45720" rtlCol="0"/>
          <a:lstStyle>
            <a:lvl1pPr algn="r">
              <a:defRPr sz="1200"/>
            </a:lvl1pPr>
          </a:lstStyle>
          <a:p>
            <a:fld id="{7ED4B07F-F831-4925-AB72-469A0AAF6696}" type="datetimeFigureOut">
              <a:rPr lang="en-IN" smtClean="0"/>
              <a:t>22-07-2026</a:t>
            </a:fld>
            <a:endParaRPr lang="en-IN"/>
          </a:p>
        </p:txBody>
      </p:sp>
      <p:sp>
        <p:nvSpPr>
          <p:cNvPr id="4" name="Slide Image Placeholder 3"/>
          <p:cNvSpPr>
            <a:spLocks noGrp="1" noRot="1" noChangeAspect="1"/>
          </p:cNvSpPr>
          <p:nvPr>
            <p:ph type="sldImg" idx="2"/>
          </p:nvPr>
        </p:nvSpPr>
        <p:spPr>
          <a:xfrm>
            <a:off x="6659563" y="1414463"/>
            <a:ext cx="6784975" cy="381635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2009775" y="5441950"/>
            <a:ext cx="16084550" cy="4454525"/>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10742613"/>
            <a:ext cx="8712200" cy="56673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11387138" y="10742613"/>
            <a:ext cx="8712200" cy="566737"/>
          </a:xfrm>
          <a:prstGeom prst="rect">
            <a:avLst/>
          </a:prstGeom>
        </p:spPr>
        <p:txBody>
          <a:bodyPr vert="horz" lIns="91440" tIns="45720" rIns="91440" bIns="45720" rtlCol="0" anchor="b"/>
          <a:lstStyle>
            <a:lvl1pPr algn="r">
              <a:defRPr sz="1200"/>
            </a:lvl1pPr>
          </a:lstStyle>
          <a:p>
            <a:fld id="{FBFBDA96-8CA2-4010-9709-2A3270F5555B}" type="slidenum">
              <a:rPr lang="en-IN" smtClean="0"/>
              <a:t>‹#›</a:t>
            </a:fld>
            <a:endParaRPr lang="en-IN"/>
          </a:p>
        </p:txBody>
      </p:sp>
    </p:spTree>
    <p:extLst>
      <p:ext uri="{BB962C8B-B14F-4D97-AF65-F5344CB8AC3E}">
        <p14:creationId xmlns:p14="http://schemas.microsoft.com/office/powerpoint/2010/main" val="30936138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BFBDA96-8CA2-4010-9709-2A3270F5555B}" type="slidenum">
              <a:rPr lang="en-IN" smtClean="0"/>
              <a:t>8</a:t>
            </a:fld>
            <a:endParaRPr lang="en-IN"/>
          </a:p>
        </p:txBody>
      </p:sp>
    </p:spTree>
    <p:extLst>
      <p:ext uri="{BB962C8B-B14F-4D97-AF65-F5344CB8AC3E}">
        <p14:creationId xmlns:p14="http://schemas.microsoft.com/office/powerpoint/2010/main" val="9110206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1507807" y="3505898"/>
            <a:ext cx="17088486" cy="2374963"/>
          </a:xfrm>
          <a:prstGeom prst="rect">
            <a:avLst/>
          </a:prstGeom>
        </p:spPr>
        <p:txBody>
          <a:bodyPr wrap="square" lIns="0" tIns="0" rIns="0" bIns="0">
            <a:spAutoFit/>
          </a:bodyPr>
          <a:lstStyle>
            <a:lvl1pPr>
              <a:defRPr sz="7000" b="1" i="0">
                <a:solidFill>
                  <a:schemeClr val="tx1"/>
                </a:solidFill>
                <a:latin typeface="Calibri"/>
                <a:cs typeface="Calibri"/>
              </a:defRPr>
            </a:lvl1pPr>
          </a:lstStyle>
          <a:p>
            <a:endParaRPr/>
          </a:p>
        </p:txBody>
      </p:sp>
      <p:sp>
        <p:nvSpPr>
          <p:cNvPr id="3" name="Holder 3"/>
          <p:cNvSpPr>
            <a:spLocks noGrp="1"/>
          </p:cNvSpPr>
          <p:nvPr>
            <p:ph type="subTitle" idx="4"/>
          </p:nvPr>
        </p:nvSpPr>
        <p:spPr>
          <a:xfrm>
            <a:off x="3015615" y="6333236"/>
            <a:ext cx="14072870" cy="2827337"/>
          </a:xfrm>
          <a:prstGeom prst="rect">
            <a:avLst/>
          </a:prstGeom>
        </p:spPr>
        <p:txBody>
          <a:bodyPr wrap="square" lIns="0" tIns="0" rIns="0" bIns="0">
            <a:spAutoFit/>
          </a:bodyPr>
          <a:lstStyle>
            <a:lvl1pPr>
              <a:defRPr sz="3950" b="0" i="0">
                <a:solidFill>
                  <a:schemeClr val="tx1"/>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7/22/2026</a:t>
            </a:fld>
            <a:endParaRPr lang="en-US"/>
          </a:p>
        </p:txBody>
      </p:sp>
      <p:sp>
        <p:nvSpPr>
          <p:cNvPr id="6" name="Holder 6"/>
          <p:cNvSpPr>
            <a:spLocks noGrp="1"/>
          </p:cNvSpPr>
          <p:nvPr>
            <p:ph type="sldNum" sz="quarter" idx="7"/>
          </p:nvPr>
        </p:nvSpPr>
        <p:spPr/>
        <p:txBody>
          <a:bodyPr lIns="0" tIns="0" rIns="0" bIns="0"/>
          <a:lstStyle>
            <a:lvl1pPr>
              <a:defRPr sz="1450" b="0" i="0">
                <a:solidFill>
                  <a:schemeClr val="tx1"/>
                </a:solidFill>
                <a:latin typeface="Calibri"/>
                <a:cs typeface="Calibri"/>
              </a:defRPr>
            </a:lvl1pPr>
          </a:lstStyle>
          <a:p>
            <a:pPr marL="90170">
              <a:lnSpc>
                <a:spcPct val="100000"/>
              </a:lnSpc>
              <a:spcBef>
                <a:spcPts val="95"/>
              </a:spcBef>
            </a:pPr>
            <a:fld id="{81D60167-4931-47E6-BA6A-407CBD079E47}" type="slidenum">
              <a:rPr spc="30" dirty="0"/>
              <a:t>‹#›</a:t>
            </a:fld>
            <a:endParaRPr spc="30"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7000" b="1" i="0">
                <a:solidFill>
                  <a:schemeClr val="tx1"/>
                </a:solidFill>
                <a:latin typeface="Calibri"/>
                <a:cs typeface="Calibri"/>
              </a:defRPr>
            </a:lvl1pPr>
          </a:lstStyle>
          <a:p>
            <a:endParaRPr/>
          </a:p>
        </p:txBody>
      </p:sp>
      <p:sp>
        <p:nvSpPr>
          <p:cNvPr id="3" name="Holder 3"/>
          <p:cNvSpPr>
            <a:spLocks noGrp="1"/>
          </p:cNvSpPr>
          <p:nvPr>
            <p:ph type="body" idx="1"/>
          </p:nvPr>
        </p:nvSpPr>
        <p:spPr/>
        <p:txBody>
          <a:bodyPr lIns="0" tIns="0" rIns="0" bIns="0"/>
          <a:lstStyle>
            <a:lvl1pPr>
              <a:defRPr sz="3950" b="0" i="0">
                <a:solidFill>
                  <a:schemeClr val="tx1"/>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7/22/2026</a:t>
            </a:fld>
            <a:endParaRPr lang="en-US"/>
          </a:p>
        </p:txBody>
      </p:sp>
      <p:sp>
        <p:nvSpPr>
          <p:cNvPr id="6" name="Holder 6"/>
          <p:cNvSpPr>
            <a:spLocks noGrp="1"/>
          </p:cNvSpPr>
          <p:nvPr>
            <p:ph type="sldNum" sz="quarter" idx="7"/>
          </p:nvPr>
        </p:nvSpPr>
        <p:spPr/>
        <p:txBody>
          <a:bodyPr lIns="0" tIns="0" rIns="0" bIns="0"/>
          <a:lstStyle>
            <a:lvl1pPr>
              <a:defRPr sz="1450" b="0" i="0">
                <a:solidFill>
                  <a:schemeClr val="tx1"/>
                </a:solidFill>
                <a:latin typeface="Calibri"/>
                <a:cs typeface="Calibri"/>
              </a:defRPr>
            </a:lvl1pPr>
          </a:lstStyle>
          <a:p>
            <a:pPr marL="90170">
              <a:lnSpc>
                <a:spcPct val="100000"/>
              </a:lnSpc>
              <a:spcBef>
                <a:spcPts val="95"/>
              </a:spcBef>
            </a:pPr>
            <a:fld id="{81D60167-4931-47E6-BA6A-407CBD079E47}" type="slidenum">
              <a:rPr spc="30" dirty="0"/>
              <a:t>‹#›</a:t>
            </a:fld>
            <a:endParaRPr spc="3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7000" b="1" i="0">
                <a:solidFill>
                  <a:schemeClr val="tx1"/>
                </a:solidFill>
                <a:latin typeface="Calibri"/>
                <a:cs typeface="Calibri"/>
              </a:defRPr>
            </a:lvl1pPr>
          </a:lstStyle>
          <a:p>
            <a:endParaRPr/>
          </a:p>
        </p:txBody>
      </p:sp>
      <p:sp>
        <p:nvSpPr>
          <p:cNvPr id="3" name="Holder 3"/>
          <p:cNvSpPr>
            <a:spLocks noGrp="1"/>
          </p:cNvSpPr>
          <p:nvPr>
            <p:ph sz="half" idx="2"/>
          </p:nvPr>
        </p:nvSpPr>
        <p:spPr>
          <a:xfrm>
            <a:off x="1005205" y="2601150"/>
            <a:ext cx="8745284" cy="7464171"/>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10353611" y="2601150"/>
            <a:ext cx="8745284" cy="7464171"/>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7/22/2026</a:t>
            </a:fld>
            <a:endParaRPr lang="en-US"/>
          </a:p>
        </p:txBody>
      </p:sp>
      <p:sp>
        <p:nvSpPr>
          <p:cNvPr id="7" name="Holder 7"/>
          <p:cNvSpPr>
            <a:spLocks noGrp="1"/>
          </p:cNvSpPr>
          <p:nvPr>
            <p:ph type="sldNum" sz="quarter" idx="7"/>
          </p:nvPr>
        </p:nvSpPr>
        <p:spPr/>
        <p:txBody>
          <a:bodyPr lIns="0" tIns="0" rIns="0" bIns="0"/>
          <a:lstStyle>
            <a:lvl1pPr>
              <a:defRPr sz="1450" b="0" i="0">
                <a:solidFill>
                  <a:schemeClr val="tx1"/>
                </a:solidFill>
                <a:latin typeface="Calibri"/>
                <a:cs typeface="Calibri"/>
              </a:defRPr>
            </a:lvl1pPr>
          </a:lstStyle>
          <a:p>
            <a:pPr marL="90170">
              <a:lnSpc>
                <a:spcPct val="100000"/>
              </a:lnSpc>
              <a:spcBef>
                <a:spcPts val="95"/>
              </a:spcBef>
            </a:pPr>
            <a:fld id="{81D60167-4931-47E6-BA6A-407CBD079E47}" type="slidenum">
              <a:rPr spc="30" dirty="0"/>
              <a:t>‹#›</a:t>
            </a:fld>
            <a:endParaRPr spc="3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7000" b="1" i="0">
                <a:solidFill>
                  <a:schemeClr val="tx1"/>
                </a:solidFill>
                <a:latin typeface="Calibri"/>
                <a:cs typeface="Calibri"/>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7/22/2026</a:t>
            </a:fld>
            <a:endParaRPr lang="en-US"/>
          </a:p>
        </p:txBody>
      </p:sp>
      <p:sp>
        <p:nvSpPr>
          <p:cNvPr id="5" name="Holder 5"/>
          <p:cNvSpPr>
            <a:spLocks noGrp="1"/>
          </p:cNvSpPr>
          <p:nvPr>
            <p:ph type="sldNum" sz="quarter" idx="7"/>
          </p:nvPr>
        </p:nvSpPr>
        <p:spPr/>
        <p:txBody>
          <a:bodyPr lIns="0" tIns="0" rIns="0" bIns="0"/>
          <a:lstStyle>
            <a:lvl1pPr>
              <a:defRPr sz="1450" b="0" i="0">
                <a:solidFill>
                  <a:schemeClr val="tx1"/>
                </a:solidFill>
                <a:latin typeface="Calibri"/>
                <a:cs typeface="Calibri"/>
              </a:defRPr>
            </a:lvl1pPr>
          </a:lstStyle>
          <a:p>
            <a:pPr marL="90170">
              <a:lnSpc>
                <a:spcPct val="100000"/>
              </a:lnSpc>
              <a:spcBef>
                <a:spcPts val="95"/>
              </a:spcBef>
            </a:pPr>
            <a:fld id="{81D60167-4931-47E6-BA6A-407CBD079E47}" type="slidenum">
              <a:rPr spc="30" dirty="0"/>
              <a:t>‹#›</a:t>
            </a:fld>
            <a:endParaRPr spc="3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7/22/2026</a:t>
            </a:fld>
            <a:endParaRPr lang="en-US"/>
          </a:p>
        </p:txBody>
      </p:sp>
      <p:sp>
        <p:nvSpPr>
          <p:cNvPr id="4" name="Holder 4"/>
          <p:cNvSpPr>
            <a:spLocks noGrp="1"/>
          </p:cNvSpPr>
          <p:nvPr>
            <p:ph type="sldNum" sz="quarter" idx="7"/>
          </p:nvPr>
        </p:nvSpPr>
        <p:spPr/>
        <p:txBody>
          <a:bodyPr lIns="0" tIns="0" rIns="0" bIns="0"/>
          <a:lstStyle>
            <a:lvl1pPr>
              <a:defRPr sz="1450" b="0" i="0">
                <a:solidFill>
                  <a:schemeClr val="tx1"/>
                </a:solidFill>
                <a:latin typeface="Calibri"/>
                <a:cs typeface="Calibri"/>
              </a:defRPr>
            </a:lvl1pPr>
          </a:lstStyle>
          <a:p>
            <a:pPr marL="90170">
              <a:lnSpc>
                <a:spcPct val="100000"/>
              </a:lnSpc>
              <a:spcBef>
                <a:spcPts val="95"/>
              </a:spcBef>
            </a:pPr>
            <a:fld id="{81D60167-4931-47E6-BA6A-407CBD079E47}" type="slidenum">
              <a:rPr spc="30" dirty="0"/>
              <a:t>‹#›</a:t>
            </a:fld>
            <a:endParaRPr spc="30"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cstate="print"/>
          <a:stretch>
            <a:fillRect/>
          </a:stretch>
        </p:blipFill>
        <p:spPr>
          <a:xfrm>
            <a:off x="55889" y="43018"/>
            <a:ext cx="1229153" cy="1485091"/>
          </a:xfrm>
          <a:prstGeom prst="rect">
            <a:avLst/>
          </a:prstGeom>
        </p:spPr>
      </p:pic>
      <p:pic>
        <p:nvPicPr>
          <p:cNvPr id="17" name="bg object 17"/>
          <p:cNvPicPr/>
          <p:nvPr/>
        </p:nvPicPr>
        <p:blipFill>
          <a:blip r:embed="rId8" cstate="print"/>
          <a:stretch>
            <a:fillRect/>
          </a:stretch>
        </p:blipFill>
        <p:spPr>
          <a:xfrm>
            <a:off x="18647660" y="32547"/>
            <a:ext cx="1367016" cy="1506309"/>
          </a:xfrm>
          <a:prstGeom prst="rect">
            <a:avLst/>
          </a:prstGeom>
        </p:spPr>
      </p:pic>
      <p:sp>
        <p:nvSpPr>
          <p:cNvPr id="2" name="Holder 2"/>
          <p:cNvSpPr>
            <a:spLocks noGrp="1"/>
          </p:cNvSpPr>
          <p:nvPr>
            <p:ph type="title"/>
          </p:nvPr>
        </p:nvSpPr>
        <p:spPr>
          <a:xfrm>
            <a:off x="1021299" y="710104"/>
            <a:ext cx="16323310" cy="1746412"/>
          </a:xfrm>
          <a:prstGeom prst="rect">
            <a:avLst/>
          </a:prstGeom>
        </p:spPr>
        <p:txBody>
          <a:bodyPr wrap="square" lIns="0" tIns="0" rIns="0" bIns="0">
            <a:spAutoFit/>
          </a:bodyPr>
          <a:lstStyle>
            <a:lvl1pPr>
              <a:defRPr sz="7000" b="1" i="0">
                <a:solidFill>
                  <a:schemeClr val="tx1"/>
                </a:solidFill>
                <a:latin typeface="Calibri"/>
                <a:cs typeface="Calibri"/>
              </a:defRPr>
            </a:lvl1pPr>
          </a:lstStyle>
          <a:p>
            <a:endParaRPr/>
          </a:p>
        </p:txBody>
      </p:sp>
      <p:sp>
        <p:nvSpPr>
          <p:cNvPr id="3" name="Holder 3"/>
          <p:cNvSpPr>
            <a:spLocks noGrp="1"/>
          </p:cNvSpPr>
          <p:nvPr>
            <p:ph type="body" idx="1"/>
          </p:nvPr>
        </p:nvSpPr>
        <p:spPr>
          <a:xfrm>
            <a:off x="1021304" y="3219325"/>
            <a:ext cx="14816455" cy="3271520"/>
          </a:xfrm>
          <a:prstGeom prst="rect">
            <a:avLst/>
          </a:prstGeom>
        </p:spPr>
        <p:txBody>
          <a:bodyPr wrap="square" lIns="0" tIns="0" rIns="0" bIns="0">
            <a:spAutoFit/>
          </a:bodyPr>
          <a:lstStyle>
            <a:lvl1pPr>
              <a:defRPr sz="3950" b="0" i="0">
                <a:solidFill>
                  <a:schemeClr val="tx1"/>
                </a:solidFill>
                <a:latin typeface="Calibri"/>
                <a:cs typeface="Calibri"/>
              </a:defRPr>
            </a:lvl1pPr>
          </a:lstStyle>
          <a:p>
            <a:endParaRPr/>
          </a:p>
        </p:txBody>
      </p:sp>
      <p:sp>
        <p:nvSpPr>
          <p:cNvPr id="4" name="Holder 4"/>
          <p:cNvSpPr>
            <a:spLocks noGrp="1"/>
          </p:cNvSpPr>
          <p:nvPr>
            <p:ph type="ftr" sz="quarter" idx="5"/>
          </p:nvPr>
        </p:nvSpPr>
        <p:spPr>
          <a:xfrm>
            <a:off x="6835394" y="10517696"/>
            <a:ext cx="6433312" cy="565467"/>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1005205" y="10517696"/>
            <a:ext cx="4623943" cy="565467"/>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7/22/2026</a:t>
            </a:fld>
            <a:endParaRPr lang="en-US"/>
          </a:p>
        </p:txBody>
      </p:sp>
      <p:sp>
        <p:nvSpPr>
          <p:cNvPr id="6" name="Holder 6"/>
          <p:cNvSpPr>
            <a:spLocks noGrp="1"/>
          </p:cNvSpPr>
          <p:nvPr>
            <p:ph type="sldNum" sz="quarter" idx="7"/>
          </p:nvPr>
        </p:nvSpPr>
        <p:spPr>
          <a:xfrm>
            <a:off x="9903976" y="10813246"/>
            <a:ext cx="299084" cy="263525"/>
          </a:xfrm>
          <a:prstGeom prst="rect">
            <a:avLst/>
          </a:prstGeom>
        </p:spPr>
        <p:txBody>
          <a:bodyPr wrap="square" lIns="0" tIns="0" rIns="0" bIns="0">
            <a:spAutoFit/>
          </a:bodyPr>
          <a:lstStyle>
            <a:lvl1pPr>
              <a:defRPr sz="1450" b="0" i="0">
                <a:solidFill>
                  <a:schemeClr val="tx1"/>
                </a:solidFill>
                <a:latin typeface="Calibri"/>
                <a:cs typeface="Calibri"/>
              </a:defRPr>
            </a:lvl1pPr>
          </a:lstStyle>
          <a:p>
            <a:pPr marL="90170">
              <a:lnSpc>
                <a:spcPct val="100000"/>
              </a:lnSpc>
              <a:spcBef>
                <a:spcPts val="95"/>
              </a:spcBef>
            </a:pPr>
            <a:fld id="{81D60167-4931-47E6-BA6A-407CBD079E47}" type="slidenum">
              <a:rPr spc="30" dirty="0"/>
              <a:t>‹#›</a:t>
            </a:fld>
            <a:endParaRPr spc="30"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package" Target="../embeddings/Microsoft_Excel_Worksheet.xlsx"/><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26738" y="0"/>
            <a:ext cx="1646138" cy="1807529"/>
          </a:xfrm>
          <a:prstGeom prst="rect">
            <a:avLst/>
          </a:prstGeom>
        </p:spPr>
      </p:pic>
      <p:pic>
        <p:nvPicPr>
          <p:cNvPr id="3" name="object 3"/>
          <p:cNvPicPr/>
          <p:nvPr/>
        </p:nvPicPr>
        <p:blipFill>
          <a:blip r:embed="rId3" cstate="print"/>
          <a:stretch>
            <a:fillRect/>
          </a:stretch>
        </p:blipFill>
        <p:spPr>
          <a:xfrm>
            <a:off x="18295346" y="176331"/>
            <a:ext cx="1360139" cy="1418645"/>
          </a:xfrm>
          <a:prstGeom prst="rect">
            <a:avLst/>
          </a:prstGeom>
        </p:spPr>
      </p:pic>
      <p:sp>
        <p:nvSpPr>
          <p:cNvPr id="7" name="object 7"/>
          <p:cNvSpPr txBox="1">
            <a:spLocks noGrp="1"/>
          </p:cNvSpPr>
          <p:nvPr>
            <p:ph type="title"/>
          </p:nvPr>
        </p:nvSpPr>
        <p:spPr>
          <a:xfrm>
            <a:off x="5455285" y="714412"/>
            <a:ext cx="9193530" cy="773930"/>
          </a:xfrm>
          <a:prstGeom prst="rect">
            <a:avLst/>
          </a:prstGeom>
        </p:spPr>
        <p:txBody>
          <a:bodyPr vert="horz" wrap="square" lIns="0" tIns="12065" rIns="0" bIns="0" rtlCol="0">
            <a:spAutoFit/>
          </a:bodyPr>
          <a:lstStyle/>
          <a:p>
            <a:pPr marL="12700">
              <a:lnSpc>
                <a:spcPct val="100000"/>
              </a:lnSpc>
              <a:spcBef>
                <a:spcPts val="95"/>
              </a:spcBef>
            </a:pPr>
            <a:r>
              <a:rPr sz="4950" spc="390" dirty="0">
                <a:solidFill>
                  <a:srgbClr val="EE230C"/>
                </a:solidFill>
                <a:latin typeface="Times New Roman" panose="02020603050405020304" pitchFamily="18" charset="0"/>
                <a:cs typeface="Times New Roman" panose="02020603050405020304" pitchFamily="18" charset="0"/>
              </a:rPr>
              <a:t>SIMATS</a:t>
            </a:r>
            <a:r>
              <a:rPr sz="4950" spc="265" dirty="0">
                <a:solidFill>
                  <a:srgbClr val="EE230C"/>
                </a:solidFill>
                <a:latin typeface="Times New Roman" panose="02020603050405020304" pitchFamily="18" charset="0"/>
                <a:cs typeface="Times New Roman" panose="02020603050405020304" pitchFamily="18" charset="0"/>
              </a:rPr>
              <a:t> </a:t>
            </a:r>
            <a:r>
              <a:rPr sz="4950" spc="505" dirty="0">
                <a:solidFill>
                  <a:srgbClr val="EE230C"/>
                </a:solidFill>
                <a:latin typeface="Times New Roman" panose="02020603050405020304" pitchFamily="18" charset="0"/>
                <a:cs typeface="Times New Roman" panose="02020603050405020304" pitchFamily="18" charset="0"/>
              </a:rPr>
              <a:t>ENGINEERING</a:t>
            </a:r>
            <a:endParaRPr sz="4950" dirty="0">
              <a:latin typeface="Times New Roman" panose="02020603050405020304" pitchFamily="18" charset="0"/>
              <a:cs typeface="Times New Roman" panose="02020603050405020304" pitchFamily="18" charset="0"/>
            </a:endParaRPr>
          </a:p>
        </p:txBody>
      </p:sp>
      <p:sp>
        <p:nvSpPr>
          <p:cNvPr id="8" name="object 8"/>
          <p:cNvSpPr txBox="1"/>
          <p:nvPr/>
        </p:nvSpPr>
        <p:spPr>
          <a:xfrm>
            <a:off x="2100262" y="1933965"/>
            <a:ext cx="15903575" cy="1384225"/>
          </a:xfrm>
          <a:prstGeom prst="rect">
            <a:avLst/>
          </a:prstGeom>
        </p:spPr>
        <p:txBody>
          <a:bodyPr vert="horz" wrap="square" lIns="0" tIns="163830" rIns="0" bIns="0" rtlCol="0">
            <a:spAutoFit/>
          </a:bodyPr>
          <a:lstStyle/>
          <a:p>
            <a:pPr marL="12065" marR="5080" algn="ctr">
              <a:lnSpc>
                <a:spcPct val="79900"/>
              </a:lnSpc>
              <a:spcBef>
                <a:spcPts val="1290"/>
              </a:spcBef>
            </a:pPr>
            <a:r>
              <a:rPr sz="4950" b="1" spc="350" dirty="0">
                <a:solidFill>
                  <a:srgbClr val="EE230C"/>
                </a:solidFill>
                <a:latin typeface="Times New Roman" panose="02020603050405020304" pitchFamily="18" charset="0"/>
                <a:cs typeface="Times New Roman" panose="02020603050405020304" pitchFamily="18" charset="0"/>
              </a:rPr>
              <a:t>Saveetha</a:t>
            </a:r>
            <a:r>
              <a:rPr sz="4950" b="1" spc="260" dirty="0">
                <a:solidFill>
                  <a:srgbClr val="EE230C"/>
                </a:solidFill>
                <a:latin typeface="Times New Roman" panose="02020603050405020304" pitchFamily="18" charset="0"/>
                <a:cs typeface="Times New Roman" panose="02020603050405020304" pitchFamily="18" charset="0"/>
              </a:rPr>
              <a:t> </a:t>
            </a:r>
            <a:r>
              <a:rPr sz="4950" b="1" spc="195" dirty="0">
                <a:solidFill>
                  <a:srgbClr val="EE230C"/>
                </a:solidFill>
                <a:latin typeface="Times New Roman" panose="02020603050405020304" pitchFamily="18" charset="0"/>
                <a:cs typeface="Times New Roman" panose="02020603050405020304" pitchFamily="18" charset="0"/>
              </a:rPr>
              <a:t>Institute</a:t>
            </a:r>
            <a:r>
              <a:rPr sz="4950" b="1" spc="265" dirty="0">
                <a:solidFill>
                  <a:srgbClr val="EE230C"/>
                </a:solidFill>
                <a:latin typeface="Times New Roman" panose="02020603050405020304" pitchFamily="18" charset="0"/>
                <a:cs typeface="Times New Roman" panose="02020603050405020304" pitchFamily="18" charset="0"/>
              </a:rPr>
              <a:t> </a:t>
            </a:r>
            <a:r>
              <a:rPr sz="4950" b="1" spc="210" dirty="0">
                <a:solidFill>
                  <a:srgbClr val="EE230C"/>
                </a:solidFill>
                <a:latin typeface="Times New Roman" panose="02020603050405020304" pitchFamily="18" charset="0"/>
                <a:cs typeface="Times New Roman" panose="02020603050405020304" pitchFamily="18" charset="0"/>
              </a:rPr>
              <a:t>of</a:t>
            </a:r>
            <a:r>
              <a:rPr sz="4950" b="1" spc="254" dirty="0">
                <a:solidFill>
                  <a:srgbClr val="EE230C"/>
                </a:solidFill>
                <a:latin typeface="Times New Roman" panose="02020603050405020304" pitchFamily="18" charset="0"/>
                <a:cs typeface="Times New Roman" panose="02020603050405020304" pitchFamily="18" charset="0"/>
              </a:rPr>
              <a:t> </a:t>
            </a:r>
            <a:r>
              <a:rPr sz="4950" b="1" spc="300" dirty="0">
                <a:solidFill>
                  <a:srgbClr val="EE230C"/>
                </a:solidFill>
                <a:latin typeface="Times New Roman" panose="02020603050405020304" pitchFamily="18" charset="0"/>
                <a:cs typeface="Times New Roman" panose="02020603050405020304" pitchFamily="18" charset="0"/>
              </a:rPr>
              <a:t>Medical</a:t>
            </a:r>
            <a:r>
              <a:rPr sz="4950" b="1" spc="260" dirty="0">
                <a:solidFill>
                  <a:srgbClr val="EE230C"/>
                </a:solidFill>
                <a:latin typeface="Times New Roman" panose="02020603050405020304" pitchFamily="18" charset="0"/>
                <a:cs typeface="Times New Roman" panose="02020603050405020304" pitchFamily="18" charset="0"/>
              </a:rPr>
              <a:t> </a:t>
            </a:r>
            <a:r>
              <a:rPr sz="4950" b="1" spc="330" dirty="0">
                <a:solidFill>
                  <a:srgbClr val="EE230C"/>
                </a:solidFill>
                <a:latin typeface="Times New Roman" panose="02020603050405020304" pitchFamily="18" charset="0"/>
                <a:cs typeface="Times New Roman" panose="02020603050405020304" pitchFamily="18" charset="0"/>
              </a:rPr>
              <a:t>and</a:t>
            </a:r>
            <a:r>
              <a:rPr sz="4950" b="1" spc="254" dirty="0">
                <a:solidFill>
                  <a:srgbClr val="EE230C"/>
                </a:solidFill>
                <a:latin typeface="Times New Roman" panose="02020603050405020304" pitchFamily="18" charset="0"/>
                <a:cs typeface="Times New Roman" panose="02020603050405020304" pitchFamily="18" charset="0"/>
              </a:rPr>
              <a:t> </a:t>
            </a:r>
            <a:r>
              <a:rPr sz="4950" b="1" spc="325" dirty="0">
                <a:solidFill>
                  <a:srgbClr val="EE230C"/>
                </a:solidFill>
                <a:latin typeface="Times New Roman" panose="02020603050405020304" pitchFamily="18" charset="0"/>
                <a:cs typeface="Times New Roman" panose="02020603050405020304" pitchFamily="18" charset="0"/>
              </a:rPr>
              <a:t>Technical</a:t>
            </a:r>
            <a:r>
              <a:rPr sz="4950" b="1" spc="254" dirty="0">
                <a:solidFill>
                  <a:srgbClr val="EE230C"/>
                </a:solidFill>
                <a:latin typeface="Times New Roman" panose="02020603050405020304" pitchFamily="18" charset="0"/>
                <a:cs typeface="Times New Roman" panose="02020603050405020304" pitchFamily="18" charset="0"/>
              </a:rPr>
              <a:t> </a:t>
            </a:r>
            <a:r>
              <a:rPr sz="4950" b="1" spc="480" dirty="0">
                <a:solidFill>
                  <a:srgbClr val="EE230C"/>
                </a:solidFill>
                <a:latin typeface="Times New Roman" panose="02020603050405020304" pitchFamily="18" charset="0"/>
                <a:cs typeface="Times New Roman" panose="02020603050405020304" pitchFamily="18" charset="0"/>
              </a:rPr>
              <a:t>Sciences </a:t>
            </a:r>
            <a:r>
              <a:rPr sz="4950" b="1" spc="290" dirty="0">
                <a:solidFill>
                  <a:srgbClr val="EE230C"/>
                </a:solidFill>
                <a:latin typeface="Times New Roman" panose="02020603050405020304" pitchFamily="18" charset="0"/>
                <a:cs typeface="Times New Roman" panose="02020603050405020304" pitchFamily="18" charset="0"/>
              </a:rPr>
              <a:t>Chennai-</a:t>
            </a:r>
            <a:r>
              <a:rPr sz="4950" b="1" spc="285" dirty="0">
                <a:solidFill>
                  <a:srgbClr val="EE230C"/>
                </a:solidFill>
                <a:latin typeface="Times New Roman" panose="02020603050405020304" pitchFamily="18" charset="0"/>
                <a:cs typeface="Times New Roman" panose="02020603050405020304" pitchFamily="18" charset="0"/>
              </a:rPr>
              <a:t>602105.</a:t>
            </a:r>
            <a:endParaRPr sz="4950" dirty="0">
              <a:latin typeface="Times New Roman" panose="02020603050405020304" pitchFamily="18" charset="0"/>
              <a:cs typeface="Times New Roman" panose="02020603050405020304" pitchFamily="18" charset="0"/>
            </a:endParaRPr>
          </a:p>
        </p:txBody>
      </p:sp>
      <p:sp>
        <p:nvSpPr>
          <p:cNvPr id="9" name="object 9"/>
          <p:cNvSpPr txBox="1"/>
          <p:nvPr/>
        </p:nvSpPr>
        <p:spPr>
          <a:xfrm>
            <a:off x="14047202" y="8681637"/>
            <a:ext cx="5608283" cy="1387496"/>
          </a:xfrm>
          <a:prstGeom prst="rect">
            <a:avLst/>
          </a:prstGeom>
        </p:spPr>
        <p:txBody>
          <a:bodyPr vert="horz" wrap="square" lIns="0" tIns="12065" rIns="0" bIns="0" rtlCol="0">
            <a:spAutoFit/>
          </a:bodyPr>
          <a:lstStyle/>
          <a:p>
            <a:pPr marL="760095" marR="755650" indent="2540" algn="ctr">
              <a:lnSpc>
                <a:spcPct val="100600"/>
              </a:lnSpc>
              <a:spcBef>
                <a:spcPts val="95"/>
              </a:spcBef>
            </a:pPr>
            <a:r>
              <a:rPr lang="en-GB" sz="2950" b="1" dirty="0">
                <a:latin typeface="Times New Roman" panose="02020603050405020304" pitchFamily="18" charset="0"/>
                <a:cs typeface="Times New Roman" panose="02020603050405020304" pitchFamily="18" charset="0"/>
              </a:rPr>
              <a:t>Supervisor,</a:t>
            </a:r>
          </a:p>
          <a:p>
            <a:pPr marL="760095" marR="755650" indent="2540" algn="ctr">
              <a:lnSpc>
                <a:spcPct val="100600"/>
              </a:lnSpc>
              <a:spcBef>
                <a:spcPts val="95"/>
              </a:spcBef>
            </a:pPr>
            <a:r>
              <a:rPr lang="en-GB" sz="2950" b="1" dirty="0">
                <a:latin typeface="Times New Roman" panose="02020603050405020304" pitchFamily="18" charset="0"/>
                <a:cs typeface="Times New Roman" panose="02020603050405020304" pitchFamily="18" charset="0"/>
              </a:rPr>
              <a:t>Dr T Devi,</a:t>
            </a:r>
          </a:p>
          <a:p>
            <a:pPr marL="760095" marR="755650" indent="2540" algn="ctr">
              <a:lnSpc>
                <a:spcPct val="100600"/>
              </a:lnSpc>
              <a:spcBef>
                <a:spcPts val="95"/>
              </a:spcBef>
            </a:pPr>
            <a:r>
              <a:rPr lang="en-GB" sz="2950" b="1" dirty="0">
                <a:latin typeface="Times New Roman" panose="02020603050405020304" pitchFamily="18" charset="0"/>
                <a:cs typeface="Times New Roman" panose="02020603050405020304" pitchFamily="18" charset="0"/>
              </a:rPr>
              <a:t>SIMATS Engineering</a:t>
            </a:r>
            <a:endParaRPr sz="2950" b="1" dirty="0">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9D8C090B-E2E9-B603-BFB8-14AF7A8C7FDF}"/>
              </a:ext>
            </a:extLst>
          </p:cNvPr>
          <p:cNvSpPr txBox="1"/>
          <p:nvPr/>
        </p:nvSpPr>
        <p:spPr>
          <a:xfrm>
            <a:off x="1034366" y="7379200"/>
            <a:ext cx="10045065" cy="2567369"/>
          </a:xfrm>
          <a:prstGeom prst="rect">
            <a:avLst/>
          </a:prstGeom>
          <a:noFill/>
        </p:spPr>
        <p:txBody>
          <a:bodyPr wrap="square">
            <a:spAutoFit/>
          </a:bodyPr>
          <a:lstStyle/>
          <a:p>
            <a:pPr marL="12700" marR="5080">
              <a:lnSpc>
                <a:spcPct val="100299"/>
              </a:lnSpc>
              <a:spcBef>
                <a:spcPts val="95"/>
              </a:spcBef>
            </a:pPr>
            <a:r>
              <a:rPr lang="en-IN" sz="3200" b="1" spc="220" dirty="0">
                <a:latin typeface="Times New Roman" panose="02020603050405020304" pitchFamily="18" charset="0"/>
                <a:cs typeface="Times New Roman" panose="02020603050405020304" pitchFamily="18" charset="0"/>
              </a:rPr>
              <a:t>Name :K Dedeepya</a:t>
            </a:r>
          </a:p>
          <a:p>
            <a:pPr marL="12700" marR="5080">
              <a:lnSpc>
                <a:spcPct val="100299"/>
              </a:lnSpc>
              <a:spcBef>
                <a:spcPts val="95"/>
              </a:spcBef>
            </a:pPr>
            <a:r>
              <a:rPr lang="en-IN" sz="3200" b="1" spc="220" dirty="0">
                <a:latin typeface="Times New Roman" panose="02020603050405020304" pitchFamily="18" charset="0"/>
                <a:cs typeface="Times New Roman" panose="02020603050405020304" pitchFamily="18" charset="0"/>
              </a:rPr>
              <a:t>Reg no:192324252</a:t>
            </a:r>
          </a:p>
          <a:p>
            <a:pPr marL="12700" marR="5080">
              <a:lnSpc>
                <a:spcPct val="100299"/>
              </a:lnSpc>
              <a:spcBef>
                <a:spcPts val="95"/>
              </a:spcBef>
            </a:pPr>
            <a:r>
              <a:rPr lang="en-IN" sz="3200" b="1" spc="220" dirty="0">
                <a:latin typeface="Times New Roman" panose="02020603050405020304" pitchFamily="18" charset="0"/>
                <a:cs typeface="Times New Roman" panose="02020603050405020304" pitchFamily="18" charset="0"/>
              </a:rPr>
              <a:t>Course Code:DSA0304</a:t>
            </a:r>
          </a:p>
          <a:p>
            <a:pPr marL="12700" marR="5080">
              <a:lnSpc>
                <a:spcPct val="100299"/>
              </a:lnSpc>
              <a:spcBef>
                <a:spcPts val="95"/>
              </a:spcBef>
            </a:pPr>
            <a:r>
              <a:rPr lang="en-IN" sz="3200" b="1" spc="220" dirty="0">
                <a:latin typeface="Times New Roman" panose="02020603050405020304" pitchFamily="18" charset="0"/>
                <a:cs typeface="Times New Roman" panose="02020603050405020304" pitchFamily="18" charset="0"/>
              </a:rPr>
              <a:t>Course Name: Natural</a:t>
            </a:r>
            <a:r>
              <a:rPr lang="en-IN" sz="3200" b="1" dirty="0">
                <a:latin typeface="Times New Roman" panose="02020603050405020304" pitchFamily="18" charset="0"/>
                <a:cs typeface="Times New Roman" panose="02020603050405020304" pitchFamily="18" charset="0"/>
              </a:rPr>
              <a:t> Language Processing</a:t>
            </a:r>
            <a:endParaRPr lang="en-IN" sz="3200" b="1" spc="220" dirty="0">
              <a:latin typeface="Times New Roman" panose="02020603050405020304" pitchFamily="18" charset="0"/>
              <a:cs typeface="Times New Roman" panose="02020603050405020304" pitchFamily="18" charset="0"/>
            </a:endParaRPr>
          </a:p>
          <a:p>
            <a:pPr marL="12700" marR="5080">
              <a:lnSpc>
                <a:spcPct val="100299"/>
              </a:lnSpc>
              <a:spcBef>
                <a:spcPts val="95"/>
              </a:spcBef>
            </a:pPr>
            <a:endParaRPr lang="en-IN" sz="2950" b="1" spc="220" dirty="0">
              <a:latin typeface="Calibri"/>
              <a:cs typeface="Calibri"/>
            </a:endParaRPr>
          </a:p>
        </p:txBody>
      </p:sp>
      <p:sp>
        <p:nvSpPr>
          <p:cNvPr id="6" name="TextBox 5">
            <a:extLst>
              <a:ext uri="{FF2B5EF4-FFF2-40B4-BE49-F238E27FC236}">
                <a16:creationId xmlns:a16="http://schemas.microsoft.com/office/drawing/2014/main" id="{17A3B544-5139-3EC4-AEC9-A3824A8159F4}"/>
              </a:ext>
            </a:extLst>
          </p:cNvPr>
          <p:cNvSpPr txBox="1"/>
          <p:nvPr/>
        </p:nvSpPr>
        <p:spPr>
          <a:xfrm>
            <a:off x="3546021" y="3763813"/>
            <a:ext cx="16535400" cy="769441"/>
          </a:xfrm>
          <a:prstGeom prst="rect">
            <a:avLst/>
          </a:prstGeom>
          <a:noFill/>
        </p:spPr>
        <p:txBody>
          <a:bodyPr wrap="square">
            <a:spAutoFit/>
          </a:bodyPr>
          <a:lstStyle/>
          <a:p>
            <a:r>
              <a:rPr lang="en-US" sz="4400" b="1" dirty="0">
                <a:latin typeface="Times New Roman" panose="02020603050405020304" pitchFamily="18" charset="0"/>
                <a:cs typeface="Times New Roman" panose="02020603050405020304" pitchFamily="18" charset="0"/>
              </a:rPr>
              <a:t>Regular Expressions for Real-World Text Processing</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346450" y="625475"/>
            <a:ext cx="11658600" cy="1090683"/>
          </a:xfrm>
          <a:prstGeom prst="rect">
            <a:avLst/>
          </a:prstGeom>
        </p:spPr>
        <p:txBody>
          <a:bodyPr vert="horz" wrap="square" lIns="0" tIns="13335" rIns="0" bIns="0" rtlCol="0">
            <a:spAutoFit/>
          </a:bodyPr>
          <a:lstStyle/>
          <a:p>
            <a:pPr marL="12700" algn="ctr">
              <a:lnSpc>
                <a:spcPct val="100000"/>
              </a:lnSpc>
              <a:spcBef>
                <a:spcPts val="105"/>
              </a:spcBef>
            </a:pPr>
            <a:r>
              <a:rPr lang="en-IN" spc="455" dirty="0">
                <a:latin typeface="Times New Roman" panose="02020603050405020304" pitchFamily="18" charset="0"/>
                <a:cs typeface="Times New Roman" panose="02020603050405020304" pitchFamily="18" charset="0"/>
              </a:rPr>
              <a:t>Introduction</a:t>
            </a:r>
            <a:endParaRPr spc="455"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263899E9-66C3-F05A-73CD-3B600F1FCC2A}"/>
              </a:ext>
            </a:extLst>
          </p:cNvPr>
          <p:cNvSpPr txBox="1"/>
          <p:nvPr/>
        </p:nvSpPr>
        <p:spPr>
          <a:xfrm>
            <a:off x="1212850" y="2530475"/>
            <a:ext cx="17141825" cy="8579721"/>
          </a:xfrm>
          <a:prstGeom prst="rect">
            <a:avLst/>
          </a:prstGeom>
          <a:noFill/>
        </p:spPr>
        <p:txBody>
          <a:bodyPr wrap="square">
            <a:spAutoFit/>
          </a:bodyPr>
          <a:lstStyle/>
          <a:p>
            <a:pPr algn="l">
              <a:lnSpc>
                <a:spcPct val="150000"/>
              </a:lnSpc>
            </a:pPr>
            <a:r>
              <a:rPr lang="en-US" sz="3600" dirty="0">
                <a:latin typeface="Times New Roman" panose="02020603050405020304" pitchFamily="18" charset="0"/>
                <a:cs typeface="Times New Roman" panose="02020603050405020304" pitchFamily="18" charset="0"/>
              </a:rPr>
              <a:t>Regular Expressions (Regex) are sequences of characters that define a search pattern. They are used to search, match, validate, and extract information from text. Regex simplifies text processing by automating tasks that would otherwise require manual effort. It is widely used in programming languages such as Python, Java, JavaScript, and C++.</a:t>
            </a:r>
          </a:p>
          <a:p>
            <a:pPr algn="l">
              <a:lnSpc>
                <a:spcPct val="150000"/>
              </a:lnSpc>
            </a:pPr>
            <a:endParaRPr lang="en-US" sz="3600" dirty="0">
              <a:latin typeface="Times New Roman" panose="02020603050405020304" pitchFamily="18" charset="0"/>
              <a:cs typeface="Times New Roman" panose="02020603050405020304" pitchFamily="18" charset="0"/>
            </a:endParaRPr>
          </a:p>
          <a:p>
            <a:pPr algn="l">
              <a:lnSpc>
                <a:spcPct val="150000"/>
              </a:lnSpc>
            </a:pPr>
            <a:r>
              <a:rPr lang="en-US" sz="3600" b="1" dirty="0">
                <a:latin typeface="Times New Roman" panose="02020603050405020304" pitchFamily="18" charset="0"/>
                <a:cs typeface="Times New Roman" panose="02020603050405020304" pitchFamily="18" charset="0"/>
              </a:rPr>
              <a:t>Why Regular Expressions?</a:t>
            </a:r>
          </a:p>
          <a:p>
            <a:pPr marL="571500" indent="-571500">
              <a:buFont typeface="Arial" panose="020B0604020202020204" pitchFamily="34" charset="0"/>
              <a:buChar char="•"/>
            </a:pPr>
            <a:r>
              <a:rPr lang="en-US" sz="3600" dirty="0">
                <a:latin typeface="Times New Roman" panose="02020603050405020304" pitchFamily="18" charset="0"/>
                <a:cs typeface="Times New Roman" panose="02020603050405020304" pitchFamily="18" charset="0"/>
              </a:rPr>
              <a:t>Automates text searching.</a:t>
            </a:r>
          </a:p>
          <a:p>
            <a:pPr marL="571500" indent="-571500">
              <a:buFont typeface="Arial" panose="020B0604020202020204" pitchFamily="34" charset="0"/>
              <a:buChar char="•"/>
            </a:pPr>
            <a:r>
              <a:rPr lang="en-US" sz="3600" dirty="0">
                <a:latin typeface="Times New Roman" panose="02020603050405020304" pitchFamily="18" charset="0"/>
                <a:cs typeface="Times New Roman" panose="02020603050405020304" pitchFamily="18" charset="0"/>
              </a:rPr>
              <a:t>Validates user input.</a:t>
            </a:r>
          </a:p>
          <a:p>
            <a:pPr marL="571500" indent="-571500">
              <a:buFont typeface="Arial" panose="020B0604020202020204" pitchFamily="34" charset="0"/>
              <a:buChar char="•"/>
            </a:pPr>
            <a:r>
              <a:rPr lang="en-US" sz="3600" dirty="0">
                <a:latin typeface="Times New Roman" panose="02020603050405020304" pitchFamily="18" charset="0"/>
                <a:cs typeface="Times New Roman" panose="02020603050405020304" pitchFamily="18" charset="0"/>
              </a:rPr>
              <a:t>Extracts useful information from documents.</a:t>
            </a:r>
          </a:p>
          <a:p>
            <a:pPr marL="571500" indent="-571500">
              <a:buFont typeface="Arial" panose="020B0604020202020204" pitchFamily="34" charset="0"/>
              <a:buChar char="•"/>
            </a:pPr>
            <a:r>
              <a:rPr lang="en-US" sz="3600" dirty="0">
                <a:latin typeface="Times New Roman" panose="02020603050405020304" pitchFamily="18" charset="0"/>
                <a:cs typeface="Times New Roman" panose="02020603050405020304" pitchFamily="18" charset="0"/>
              </a:rPr>
              <a:t>Cleans unwanted data.</a:t>
            </a:r>
          </a:p>
          <a:p>
            <a:pPr marL="571500" indent="-571500">
              <a:buFont typeface="Arial" panose="020B0604020202020204" pitchFamily="34" charset="0"/>
              <a:buChar char="•"/>
            </a:pPr>
            <a:r>
              <a:rPr lang="en-US" sz="3600" dirty="0">
                <a:latin typeface="Times New Roman" panose="02020603050405020304" pitchFamily="18" charset="0"/>
                <a:cs typeface="Times New Roman" panose="02020603050405020304" pitchFamily="18" charset="0"/>
              </a:rPr>
              <a:t>Saves time by replacing manual text processing</a:t>
            </a:r>
          </a:p>
          <a:p>
            <a:pPr marL="457200" indent="-457200" algn="l">
              <a:lnSpc>
                <a:spcPct val="150000"/>
              </a:lnSpc>
              <a:buFont typeface="Wingdings" panose="05000000000000000000" pitchFamily="2" charset="2"/>
              <a:buChar char="q"/>
            </a:pPr>
            <a:endParaRPr lang="en-IN" sz="3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a:extLst>
              <a:ext uri="{FF2B5EF4-FFF2-40B4-BE49-F238E27FC236}">
                <a16:creationId xmlns:a16="http://schemas.microsoft.com/office/drawing/2014/main" id="{A2F789FA-29CD-BED8-7667-72E7DB7D58EF}"/>
              </a:ext>
            </a:extLst>
          </p:cNvPr>
          <p:cNvGraphicFramePr>
            <a:graphicFrameLocks noChangeAspect="1"/>
          </p:cNvGraphicFramePr>
          <p:nvPr>
            <p:extLst>
              <p:ext uri="{D42A27DB-BD31-4B8C-83A1-F6EECF244321}">
                <p14:modId xmlns:p14="http://schemas.microsoft.com/office/powerpoint/2010/main" val="3441486484"/>
              </p:ext>
            </p:extLst>
          </p:nvPr>
        </p:nvGraphicFramePr>
        <p:xfrm>
          <a:off x="9439275" y="5467350"/>
          <a:ext cx="1225550" cy="374650"/>
        </p:xfrm>
        <a:graphic>
          <a:graphicData uri="http://schemas.openxmlformats.org/presentationml/2006/ole">
            <mc:AlternateContent xmlns:mc="http://schemas.openxmlformats.org/markup-compatibility/2006">
              <mc:Choice xmlns:v="urn:schemas-microsoft-com:vml" Requires="v">
                <p:oleObj name="Worksheet" r:id="rId2" imgW="1225659" imgH="374549" progId="Excel.Sheet.12">
                  <p:embed/>
                </p:oleObj>
              </mc:Choice>
              <mc:Fallback>
                <p:oleObj name="Worksheet" r:id="rId2" imgW="1225659" imgH="374549" progId="Excel.Sheet.12">
                  <p:embed/>
                  <p:pic>
                    <p:nvPicPr>
                      <p:cNvPr id="6" name="Object 5">
                        <a:extLst>
                          <a:ext uri="{FF2B5EF4-FFF2-40B4-BE49-F238E27FC236}">
                            <a16:creationId xmlns:a16="http://schemas.microsoft.com/office/drawing/2014/main" id="{A2F789FA-29CD-BED8-7667-72E7DB7D58EF}"/>
                          </a:ext>
                        </a:extLst>
                      </p:cNvPr>
                      <p:cNvPicPr/>
                      <p:nvPr/>
                    </p:nvPicPr>
                    <p:blipFill>
                      <a:blip r:embed="rId3"/>
                      <a:stretch>
                        <a:fillRect/>
                      </a:stretch>
                    </p:blipFill>
                    <p:spPr>
                      <a:xfrm>
                        <a:off x="9439275" y="5467350"/>
                        <a:ext cx="1225550" cy="374650"/>
                      </a:xfrm>
                      <a:prstGeom prst="rect">
                        <a:avLst/>
                      </a:prstGeom>
                    </p:spPr>
                  </p:pic>
                </p:oleObj>
              </mc:Fallback>
            </mc:AlternateContent>
          </a:graphicData>
        </a:graphic>
      </p:graphicFrame>
      <p:sp>
        <p:nvSpPr>
          <p:cNvPr id="3" name="TextBox 2">
            <a:extLst>
              <a:ext uri="{FF2B5EF4-FFF2-40B4-BE49-F238E27FC236}">
                <a16:creationId xmlns:a16="http://schemas.microsoft.com/office/drawing/2014/main" id="{81503CD9-7652-B7F6-224D-60C8592263A7}"/>
              </a:ext>
            </a:extLst>
          </p:cNvPr>
          <p:cNvSpPr txBox="1"/>
          <p:nvPr/>
        </p:nvSpPr>
        <p:spPr>
          <a:xfrm>
            <a:off x="6661150" y="777875"/>
            <a:ext cx="6781800" cy="1015663"/>
          </a:xfrm>
          <a:prstGeom prst="rect">
            <a:avLst/>
          </a:prstGeom>
          <a:noFill/>
        </p:spPr>
        <p:txBody>
          <a:bodyPr wrap="square">
            <a:spAutoFit/>
          </a:bodyPr>
          <a:lstStyle/>
          <a:p>
            <a:r>
              <a:rPr lang="en-IN" sz="6000" b="1" dirty="0">
                <a:latin typeface="Times New Roman" panose="02020603050405020304" pitchFamily="18" charset="0"/>
                <a:cs typeface="Times New Roman" panose="02020603050405020304" pitchFamily="18" charset="0"/>
              </a:rPr>
              <a:t>Basic Regex Syntax</a:t>
            </a:r>
          </a:p>
        </p:txBody>
      </p:sp>
      <p:graphicFrame>
        <p:nvGraphicFramePr>
          <p:cNvPr id="2" name="Table 1">
            <a:extLst>
              <a:ext uri="{FF2B5EF4-FFF2-40B4-BE49-F238E27FC236}">
                <a16:creationId xmlns:a16="http://schemas.microsoft.com/office/drawing/2014/main" id="{2C99D7EC-FF6F-28A6-487A-E6C9483842BA}"/>
              </a:ext>
            </a:extLst>
          </p:cNvPr>
          <p:cNvGraphicFramePr>
            <a:graphicFrameLocks noGrp="1"/>
          </p:cNvGraphicFramePr>
          <p:nvPr>
            <p:extLst>
              <p:ext uri="{D42A27DB-BD31-4B8C-83A1-F6EECF244321}">
                <p14:modId xmlns:p14="http://schemas.microsoft.com/office/powerpoint/2010/main" val="1868428197"/>
              </p:ext>
            </p:extLst>
          </p:nvPr>
        </p:nvGraphicFramePr>
        <p:xfrm>
          <a:off x="3414310" y="2776971"/>
          <a:ext cx="13343340" cy="6230499"/>
        </p:xfrm>
        <a:graphic>
          <a:graphicData uri="http://schemas.openxmlformats.org/drawingml/2006/table">
            <a:tbl>
              <a:tblPr>
                <a:tableStyleId>{5DA37D80-6434-44D0-A028-1B22A696006F}</a:tableStyleId>
              </a:tblPr>
              <a:tblGrid>
                <a:gridCol w="4447780">
                  <a:extLst>
                    <a:ext uri="{9D8B030D-6E8A-4147-A177-3AD203B41FA5}">
                      <a16:colId xmlns:a16="http://schemas.microsoft.com/office/drawing/2014/main" val="3373594337"/>
                    </a:ext>
                  </a:extLst>
                </a:gridCol>
                <a:gridCol w="4447780">
                  <a:extLst>
                    <a:ext uri="{9D8B030D-6E8A-4147-A177-3AD203B41FA5}">
                      <a16:colId xmlns:a16="http://schemas.microsoft.com/office/drawing/2014/main" val="1704885096"/>
                    </a:ext>
                  </a:extLst>
                </a:gridCol>
                <a:gridCol w="4447780">
                  <a:extLst>
                    <a:ext uri="{9D8B030D-6E8A-4147-A177-3AD203B41FA5}">
                      <a16:colId xmlns:a16="http://schemas.microsoft.com/office/drawing/2014/main" val="687934766"/>
                    </a:ext>
                  </a:extLst>
                </a:gridCol>
              </a:tblGrid>
              <a:tr h="566409">
                <a:tc>
                  <a:txBody>
                    <a:bodyPr/>
                    <a:lstStyle/>
                    <a:p>
                      <a:pPr>
                        <a:lnSpc>
                          <a:spcPct val="150000"/>
                        </a:lnSpc>
                        <a:buNone/>
                      </a:pPr>
                      <a:r>
                        <a:rPr lang="en-IN" sz="2400">
                          <a:latin typeface="Times New Roman" panose="02020603050405020304" pitchFamily="18" charset="0"/>
                          <a:cs typeface="Times New Roman" panose="02020603050405020304" pitchFamily="18" charset="0"/>
                        </a:rPr>
                        <a:t>Symbol</a:t>
                      </a:r>
                    </a:p>
                  </a:txBody>
                  <a:tcPr marL="74360" marR="74360" marT="37180" marB="37180" anchor="ctr"/>
                </a:tc>
                <a:tc>
                  <a:txBody>
                    <a:bodyPr/>
                    <a:lstStyle/>
                    <a:p>
                      <a:pPr>
                        <a:lnSpc>
                          <a:spcPct val="150000"/>
                        </a:lnSpc>
                        <a:buNone/>
                      </a:pPr>
                      <a:r>
                        <a:rPr lang="en-IN" sz="2400">
                          <a:latin typeface="Times New Roman" panose="02020603050405020304" pitchFamily="18" charset="0"/>
                          <a:cs typeface="Times New Roman" panose="02020603050405020304" pitchFamily="18" charset="0"/>
                        </a:rPr>
                        <a:t>Meaning</a:t>
                      </a:r>
                    </a:p>
                  </a:txBody>
                  <a:tcPr marL="74360" marR="74360" marT="37180" marB="37180" anchor="ctr"/>
                </a:tc>
                <a:tc>
                  <a:txBody>
                    <a:bodyPr/>
                    <a:lstStyle/>
                    <a:p>
                      <a:pPr>
                        <a:lnSpc>
                          <a:spcPct val="150000"/>
                        </a:lnSpc>
                        <a:buNone/>
                      </a:pPr>
                      <a:r>
                        <a:rPr lang="en-IN" sz="2400">
                          <a:latin typeface="Times New Roman" panose="02020603050405020304" pitchFamily="18" charset="0"/>
                          <a:cs typeface="Times New Roman" panose="02020603050405020304" pitchFamily="18" charset="0"/>
                        </a:rPr>
                        <a:t>Example</a:t>
                      </a:r>
                    </a:p>
                  </a:txBody>
                  <a:tcPr marL="74360" marR="74360" marT="37180" marB="37180" anchor="ctr"/>
                </a:tc>
                <a:extLst>
                  <a:ext uri="{0D108BD9-81ED-4DB2-BD59-A6C34878D82A}">
                    <a16:rowId xmlns:a16="http://schemas.microsoft.com/office/drawing/2014/main" val="803487851"/>
                  </a:ext>
                </a:extLst>
              </a:tr>
              <a:tr h="566409">
                <a:tc>
                  <a:txBody>
                    <a:bodyPr/>
                    <a:lstStyle/>
                    <a:p>
                      <a:pPr>
                        <a:lnSpc>
                          <a:spcPct val="150000"/>
                        </a:lnSpc>
                        <a:buNone/>
                      </a:pPr>
                      <a:r>
                        <a:rPr lang="en-IN" sz="2400">
                          <a:latin typeface="Times New Roman" panose="02020603050405020304" pitchFamily="18" charset="0"/>
                          <a:cs typeface="Times New Roman" panose="02020603050405020304" pitchFamily="18" charset="0"/>
                        </a:rPr>
                        <a:t>.</a:t>
                      </a:r>
                    </a:p>
                  </a:txBody>
                  <a:tcPr marL="74360" marR="74360" marT="37180" marB="37180" anchor="ctr"/>
                </a:tc>
                <a:tc>
                  <a:txBody>
                    <a:bodyPr/>
                    <a:lstStyle/>
                    <a:p>
                      <a:pPr>
                        <a:lnSpc>
                          <a:spcPct val="150000"/>
                        </a:lnSpc>
                        <a:buNone/>
                      </a:pPr>
                      <a:r>
                        <a:rPr lang="en-IN" sz="2400">
                          <a:latin typeface="Times New Roman" panose="02020603050405020304" pitchFamily="18" charset="0"/>
                          <a:cs typeface="Times New Roman" panose="02020603050405020304" pitchFamily="18" charset="0"/>
                        </a:rPr>
                        <a:t>Any character</a:t>
                      </a:r>
                    </a:p>
                  </a:txBody>
                  <a:tcPr marL="74360" marR="74360" marT="37180" marB="37180" anchor="ctr"/>
                </a:tc>
                <a:tc>
                  <a:txBody>
                    <a:bodyPr/>
                    <a:lstStyle/>
                    <a:p>
                      <a:pPr>
                        <a:lnSpc>
                          <a:spcPct val="150000"/>
                        </a:lnSpc>
                        <a:buNone/>
                      </a:pPr>
                      <a:r>
                        <a:rPr lang="en-IN" sz="2400">
                          <a:latin typeface="Times New Roman" panose="02020603050405020304" pitchFamily="18" charset="0"/>
                          <a:cs typeface="Times New Roman" panose="02020603050405020304" pitchFamily="18" charset="0"/>
                        </a:rPr>
                        <a:t>a.c</a:t>
                      </a:r>
                    </a:p>
                  </a:txBody>
                  <a:tcPr marL="74360" marR="74360" marT="37180" marB="37180" anchor="ctr"/>
                </a:tc>
                <a:extLst>
                  <a:ext uri="{0D108BD9-81ED-4DB2-BD59-A6C34878D82A}">
                    <a16:rowId xmlns:a16="http://schemas.microsoft.com/office/drawing/2014/main" val="2331940970"/>
                  </a:ext>
                </a:extLst>
              </a:tr>
              <a:tr h="566409">
                <a:tc>
                  <a:txBody>
                    <a:bodyPr/>
                    <a:lstStyle/>
                    <a:p>
                      <a:pPr>
                        <a:lnSpc>
                          <a:spcPct val="150000"/>
                        </a:lnSpc>
                        <a:buNone/>
                      </a:pPr>
                      <a:r>
                        <a:rPr lang="en-IN" sz="2400">
                          <a:latin typeface="Times New Roman" panose="02020603050405020304" pitchFamily="18" charset="0"/>
                          <a:cs typeface="Times New Roman" panose="02020603050405020304" pitchFamily="18" charset="0"/>
                        </a:rPr>
                        <a:t>*</a:t>
                      </a:r>
                    </a:p>
                  </a:txBody>
                  <a:tcPr marL="74360" marR="74360" marT="37180" marB="37180" anchor="ctr"/>
                </a:tc>
                <a:tc>
                  <a:txBody>
                    <a:bodyPr/>
                    <a:lstStyle/>
                    <a:p>
                      <a:pPr>
                        <a:lnSpc>
                          <a:spcPct val="150000"/>
                        </a:lnSpc>
                        <a:buNone/>
                      </a:pPr>
                      <a:r>
                        <a:rPr lang="en-IN" sz="2400">
                          <a:latin typeface="Times New Roman" panose="02020603050405020304" pitchFamily="18" charset="0"/>
                          <a:cs typeface="Times New Roman" panose="02020603050405020304" pitchFamily="18" charset="0"/>
                        </a:rPr>
                        <a:t>Zero or more</a:t>
                      </a:r>
                    </a:p>
                  </a:txBody>
                  <a:tcPr marL="74360" marR="74360" marT="37180" marB="37180" anchor="ctr"/>
                </a:tc>
                <a:tc>
                  <a:txBody>
                    <a:bodyPr/>
                    <a:lstStyle/>
                    <a:p>
                      <a:pPr>
                        <a:lnSpc>
                          <a:spcPct val="150000"/>
                        </a:lnSpc>
                        <a:buNone/>
                      </a:pPr>
                      <a:r>
                        <a:rPr lang="en-IN" sz="2400">
                          <a:latin typeface="Times New Roman" panose="02020603050405020304" pitchFamily="18" charset="0"/>
                          <a:cs typeface="Times New Roman" panose="02020603050405020304" pitchFamily="18" charset="0"/>
                        </a:rPr>
                        <a:t>ab*</a:t>
                      </a:r>
                    </a:p>
                  </a:txBody>
                  <a:tcPr marL="74360" marR="74360" marT="37180" marB="37180" anchor="ctr"/>
                </a:tc>
                <a:extLst>
                  <a:ext uri="{0D108BD9-81ED-4DB2-BD59-A6C34878D82A}">
                    <a16:rowId xmlns:a16="http://schemas.microsoft.com/office/drawing/2014/main" val="3404388504"/>
                  </a:ext>
                </a:extLst>
              </a:tr>
              <a:tr h="566409">
                <a:tc>
                  <a:txBody>
                    <a:bodyPr/>
                    <a:lstStyle/>
                    <a:p>
                      <a:pPr>
                        <a:lnSpc>
                          <a:spcPct val="150000"/>
                        </a:lnSpc>
                        <a:buNone/>
                      </a:pPr>
                      <a:r>
                        <a:rPr lang="en-IN" sz="2400">
                          <a:latin typeface="Times New Roman" panose="02020603050405020304" pitchFamily="18" charset="0"/>
                          <a:cs typeface="Times New Roman" panose="02020603050405020304" pitchFamily="18" charset="0"/>
                        </a:rPr>
                        <a:t>+</a:t>
                      </a:r>
                    </a:p>
                  </a:txBody>
                  <a:tcPr marL="74360" marR="74360" marT="37180" marB="37180" anchor="ctr"/>
                </a:tc>
                <a:tc>
                  <a:txBody>
                    <a:bodyPr/>
                    <a:lstStyle/>
                    <a:p>
                      <a:pPr>
                        <a:lnSpc>
                          <a:spcPct val="150000"/>
                        </a:lnSpc>
                        <a:buNone/>
                      </a:pPr>
                      <a:r>
                        <a:rPr lang="en-IN" sz="2400">
                          <a:latin typeface="Times New Roman" panose="02020603050405020304" pitchFamily="18" charset="0"/>
                          <a:cs typeface="Times New Roman" panose="02020603050405020304" pitchFamily="18" charset="0"/>
                        </a:rPr>
                        <a:t>One or more</a:t>
                      </a:r>
                    </a:p>
                  </a:txBody>
                  <a:tcPr marL="74360" marR="74360" marT="37180" marB="37180" anchor="ctr"/>
                </a:tc>
                <a:tc>
                  <a:txBody>
                    <a:bodyPr/>
                    <a:lstStyle/>
                    <a:p>
                      <a:pPr>
                        <a:lnSpc>
                          <a:spcPct val="150000"/>
                        </a:lnSpc>
                        <a:buNone/>
                      </a:pPr>
                      <a:r>
                        <a:rPr lang="en-IN" sz="2400">
                          <a:latin typeface="Times New Roman" panose="02020603050405020304" pitchFamily="18" charset="0"/>
                          <a:cs typeface="Times New Roman" panose="02020603050405020304" pitchFamily="18" charset="0"/>
                        </a:rPr>
                        <a:t>ab+</a:t>
                      </a:r>
                    </a:p>
                  </a:txBody>
                  <a:tcPr marL="74360" marR="74360" marT="37180" marB="37180" anchor="ctr"/>
                </a:tc>
                <a:extLst>
                  <a:ext uri="{0D108BD9-81ED-4DB2-BD59-A6C34878D82A}">
                    <a16:rowId xmlns:a16="http://schemas.microsoft.com/office/drawing/2014/main" val="3289455362"/>
                  </a:ext>
                </a:extLst>
              </a:tr>
              <a:tr h="566409">
                <a:tc>
                  <a:txBody>
                    <a:bodyPr/>
                    <a:lstStyle/>
                    <a:p>
                      <a:pPr>
                        <a:lnSpc>
                          <a:spcPct val="150000"/>
                        </a:lnSpc>
                        <a:buNone/>
                      </a:pPr>
                      <a:r>
                        <a:rPr lang="en-IN" sz="2400">
                          <a:latin typeface="Times New Roman" panose="02020603050405020304" pitchFamily="18" charset="0"/>
                          <a:cs typeface="Times New Roman" panose="02020603050405020304" pitchFamily="18" charset="0"/>
                        </a:rPr>
                        <a:t>?</a:t>
                      </a:r>
                    </a:p>
                  </a:txBody>
                  <a:tcPr marL="74360" marR="74360" marT="37180" marB="37180" anchor="ctr"/>
                </a:tc>
                <a:tc>
                  <a:txBody>
                    <a:bodyPr/>
                    <a:lstStyle/>
                    <a:p>
                      <a:pPr>
                        <a:lnSpc>
                          <a:spcPct val="150000"/>
                        </a:lnSpc>
                        <a:buNone/>
                      </a:pPr>
                      <a:r>
                        <a:rPr lang="en-IN" sz="2400">
                          <a:latin typeface="Times New Roman" panose="02020603050405020304" pitchFamily="18" charset="0"/>
                          <a:cs typeface="Times New Roman" panose="02020603050405020304" pitchFamily="18" charset="0"/>
                        </a:rPr>
                        <a:t>Optional</a:t>
                      </a:r>
                    </a:p>
                  </a:txBody>
                  <a:tcPr marL="74360" marR="74360" marT="37180" marB="37180" anchor="ctr"/>
                </a:tc>
                <a:tc>
                  <a:txBody>
                    <a:bodyPr/>
                    <a:lstStyle/>
                    <a:p>
                      <a:pPr>
                        <a:lnSpc>
                          <a:spcPct val="150000"/>
                        </a:lnSpc>
                        <a:buNone/>
                      </a:pPr>
                      <a:r>
                        <a:rPr lang="en-IN" sz="2400">
                          <a:latin typeface="Times New Roman" panose="02020603050405020304" pitchFamily="18" charset="0"/>
                          <a:cs typeface="Times New Roman" panose="02020603050405020304" pitchFamily="18" charset="0"/>
                        </a:rPr>
                        <a:t>colou?r</a:t>
                      </a:r>
                    </a:p>
                  </a:txBody>
                  <a:tcPr marL="74360" marR="74360" marT="37180" marB="37180" anchor="ctr"/>
                </a:tc>
                <a:extLst>
                  <a:ext uri="{0D108BD9-81ED-4DB2-BD59-A6C34878D82A}">
                    <a16:rowId xmlns:a16="http://schemas.microsoft.com/office/drawing/2014/main" val="2517947617"/>
                  </a:ext>
                </a:extLst>
              </a:tr>
              <a:tr h="566409">
                <a:tc>
                  <a:txBody>
                    <a:bodyPr/>
                    <a:lstStyle/>
                    <a:p>
                      <a:pPr>
                        <a:lnSpc>
                          <a:spcPct val="150000"/>
                        </a:lnSpc>
                        <a:buNone/>
                      </a:pPr>
                      <a:r>
                        <a:rPr lang="en-IN" sz="2400">
                          <a:latin typeface="Times New Roman" panose="02020603050405020304" pitchFamily="18" charset="0"/>
                          <a:cs typeface="Times New Roman" panose="02020603050405020304" pitchFamily="18" charset="0"/>
                        </a:rPr>
                        <a:t>[]</a:t>
                      </a:r>
                    </a:p>
                  </a:txBody>
                  <a:tcPr marL="74360" marR="74360" marT="37180" marB="37180" anchor="ctr"/>
                </a:tc>
                <a:tc>
                  <a:txBody>
                    <a:bodyPr/>
                    <a:lstStyle/>
                    <a:p>
                      <a:pPr>
                        <a:lnSpc>
                          <a:spcPct val="150000"/>
                        </a:lnSpc>
                        <a:buNone/>
                      </a:pPr>
                      <a:r>
                        <a:rPr lang="en-IN" sz="2400">
                          <a:latin typeface="Times New Roman" panose="02020603050405020304" pitchFamily="18" charset="0"/>
                          <a:cs typeface="Times New Roman" panose="02020603050405020304" pitchFamily="18" charset="0"/>
                        </a:rPr>
                        <a:t>Character set</a:t>
                      </a:r>
                    </a:p>
                  </a:txBody>
                  <a:tcPr marL="74360" marR="74360" marT="37180" marB="37180" anchor="ctr"/>
                </a:tc>
                <a:tc>
                  <a:txBody>
                    <a:bodyPr/>
                    <a:lstStyle/>
                    <a:p>
                      <a:pPr>
                        <a:lnSpc>
                          <a:spcPct val="150000"/>
                        </a:lnSpc>
                        <a:buNone/>
                      </a:pPr>
                      <a:r>
                        <a:rPr lang="en-IN" sz="2400">
                          <a:latin typeface="Times New Roman" panose="02020603050405020304" pitchFamily="18" charset="0"/>
                          <a:cs typeface="Times New Roman" panose="02020603050405020304" pitchFamily="18" charset="0"/>
                        </a:rPr>
                        <a:t>[abc]</a:t>
                      </a:r>
                    </a:p>
                  </a:txBody>
                  <a:tcPr marL="74360" marR="74360" marT="37180" marB="37180" anchor="ctr"/>
                </a:tc>
                <a:extLst>
                  <a:ext uri="{0D108BD9-81ED-4DB2-BD59-A6C34878D82A}">
                    <a16:rowId xmlns:a16="http://schemas.microsoft.com/office/drawing/2014/main" val="3582968604"/>
                  </a:ext>
                </a:extLst>
              </a:tr>
              <a:tr h="566409">
                <a:tc>
                  <a:txBody>
                    <a:bodyPr/>
                    <a:lstStyle/>
                    <a:p>
                      <a:pPr>
                        <a:lnSpc>
                          <a:spcPct val="150000"/>
                        </a:lnSpc>
                        <a:buNone/>
                      </a:pPr>
                      <a:r>
                        <a:rPr lang="en-IN" sz="2400">
                          <a:latin typeface="Times New Roman" panose="02020603050405020304" pitchFamily="18" charset="0"/>
                          <a:cs typeface="Times New Roman" panose="02020603050405020304" pitchFamily="18" charset="0"/>
                        </a:rPr>
                        <a:t>^</a:t>
                      </a:r>
                    </a:p>
                  </a:txBody>
                  <a:tcPr marL="74360" marR="74360" marT="37180" marB="37180" anchor="ctr"/>
                </a:tc>
                <a:tc>
                  <a:txBody>
                    <a:bodyPr/>
                    <a:lstStyle/>
                    <a:p>
                      <a:pPr>
                        <a:lnSpc>
                          <a:spcPct val="150000"/>
                        </a:lnSpc>
                        <a:buNone/>
                      </a:pPr>
                      <a:r>
                        <a:rPr lang="en-IN" sz="2400">
                          <a:latin typeface="Times New Roman" panose="02020603050405020304" pitchFamily="18" charset="0"/>
                          <a:cs typeface="Times New Roman" panose="02020603050405020304" pitchFamily="18" charset="0"/>
                        </a:rPr>
                        <a:t>Start of string</a:t>
                      </a:r>
                    </a:p>
                  </a:txBody>
                  <a:tcPr marL="74360" marR="74360" marT="37180" marB="37180" anchor="ctr"/>
                </a:tc>
                <a:tc>
                  <a:txBody>
                    <a:bodyPr/>
                    <a:lstStyle/>
                    <a:p>
                      <a:pPr>
                        <a:lnSpc>
                          <a:spcPct val="150000"/>
                        </a:lnSpc>
                        <a:buNone/>
                      </a:pPr>
                      <a:r>
                        <a:rPr lang="en-IN" sz="2400">
                          <a:latin typeface="Times New Roman" panose="02020603050405020304" pitchFamily="18" charset="0"/>
                          <a:cs typeface="Times New Roman" panose="02020603050405020304" pitchFamily="18" charset="0"/>
                        </a:rPr>
                        <a:t>^Hello</a:t>
                      </a:r>
                    </a:p>
                  </a:txBody>
                  <a:tcPr marL="74360" marR="74360" marT="37180" marB="37180" anchor="ctr"/>
                </a:tc>
                <a:extLst>
                  <a:ext uri="{0D108BD9-81ED-4DB2-BD59-A6C34878D82A}">
                    <a16:rowId xmlns:a16="http://schemas.microsoft.com/office/drawing/2014/main" val="1409834858"/>
                  </a:ext>
                </a:extLst>
              </a:tr>
              <a:tr h="566409">
                <a:tc>
                  <a:txBody>
                    <a:bodyPr/>
                    <a:lstStyle/>
                    <a:p>
                      <a:pPr>
                        <a:lnSpc>
                          <a:spcPct val="150000"/>
                        </a:lnSpc>
                        <a:buNone/>
                      </a:pPr>
                      <a:r>
                        <a:rPr lang="en-IN" sz="2400">
                          <a:latin typeface="Times New Roman" panose="02020603050405020304" pitchFamily="18" charset="0"/>
                          <a:cs typeface="Times New Roman" panose="02020603050405020304" pitchFamily="18" charset="0"/>
                        </a:rPr>
                        <a:t>$</a:t>
                      </a:r>
                    </a:p>
                  </a:txBody>
                  <a:tcPr marL="74360" marR="74360" marT="37180" marB="37180" anchor="ctr"/>
                </a:tc>
                <a:tc>
                  <a:txBody>
                    <a:bodyPr/>
                    <a:lstStyle/>
                    <a:p>
                      <a:pPr>
                        <a:lnSpc>
                          <a:spcPct val="150000"/>
                        </a:lnSpc>
                        <a:buNone/>
                      </a:pPr>
                      <a:r>
                        <a:rPr lang="en-IN" sz="2400">
                          <a:latin typeface="Times New Roman" panose="02020603050405020304" pitchFamily="18" charset="0"/>
                          <a:cs typeface="Times New Roman" panose="02020603050405020304" pitchFamily="18" charset="0"/>
                        </a:rPr>
                        <a:t>End of string</a:t>
                      </a:r>
                    </a:p>
                  </a:txBody>
                  <a:tcPr marL="74360" marR="74360" marT="37180" marB="37180" anchor="ctr"/>
                </a:tc>
                <a:tc>
                  <a:txBody>
                    <a:bodyPr/>
                    <a:lstStyle/>
                    <a:p>
                      <a:pPr>
                        <a:lnSpc>
                          <a:spcPct val="150000"/>
                        </a:lnSpc>
                        <a:buNone/>
                      </a:pPr>
                      <a:r>
                        <a:rPr lang="en-IN" sz="2400" dirty="0">
                          <a:latin typeface="Times New Roman" panose="02020603050405020304" pitchFamily="18" charset="0"/>
                          <a:cs typeface="Times New Roman" panose="02020603050405020304" pitchFamily="18" charset="0"/>
                        </a:rPr>
                        <a:t>World$</a:t>
                      </a:r>
                    </a:p>
                  </a:txBody>
                  <a:tcPr marL="74360" marR="74360" marT="37180" marB="37180" anchor="ctr"/>
                </a:tc>
                <a:extLst>
                  <a:ext uri="{0D108BD9-81ED-4DB2-BD59-A6C34878D82A}">
                    <a16:rowId xmlns:a16="http://schemas.microsoft.com/office/drawing/2014/main" val="2281353149"/>
                  </a:ext>
                </a:extLst>
              </a:tr>
              <a:tr h="566409">
                <a:tc>
                  <a:txBody>
                    <a:bodyPr/>
                    <a:lstStyle/>
                    <a:p>
                      <a:pPr>
                        <a:lnSpc>
                          <a:spcPct val="150000"/>
                        </a:lnSpc>
                        <a:buNone/>
                      </a:pPr>
                      <a:r>
                        <a:rPr lang="en-IN" sz="2400">
                          <a:latin typeface="Times New Roman" panose="02020603050405020304" pitchFamily="18" charset="0"/>
                          <a:cs typeface="Times New Roman" panose="02020603050405020304" pitchFamily="18" charset="0"/>
                        </a:rPr>
                        <a:t>\d</a:t>
                      </a:r>
                    </a:p>
                  </a:txBody>
                  <a:tcPr marL="74360" marR="74360" marT="37180" marB="37180" anchor="ctr"/>
                </a:tc>
                <a:tc>
                  <a:txBody>
                    <a:bodyPr/>
                    <a:lstStyle/>
                    <a:p>
                      <a:pPr>
                        <a:lnSpc>
                          <a:spcPct val="150000"/>
                        </a:lnSpc>
                        <a:buNone/>
                      </a:pPr>
                      <a:r>
                        <a:rPr lang="en-IN" sz="2400">
                          <a:latin typeface="Times New Roman" panose="02020603050405020304" pitchFamily="18" charset="0"/>
                          <a:cs typeface="Times New Roman" panose="02020603050405020304" pitchFamily="18" charset="0"/>
                        </a:rPr>
                        <a:t>Digit</a:t>
                      </a:r>
                    </a:p>
                  </a:txBody>
                  <a:tcPr marL="74360" marR="74360" marT="37180" marB="37180" anchor="ctr"/>
                </a:tc>
                <a:tc>
                  <a:txBody>
                    <a:bodyPr/>
                    <a:lstStyle/>
                    <a:p>
                      <a:pPr>
                        <a:lnSpc>
                          <a:spcPct val="150000"/>
                        </a:lnSpc>
                        <a:buNone/>
                      </a:pPr>
                      <a:r>
                        <a:rPr lang="en-IN" sz="2400">
                          <a:latin typeface="Times New Roman" panose="02020603050405020304" pitchFamily="18" charset="0"/>
                          <a:cs typeface="Times New Roman" panose="02020603050405020304" pitchFamily="18" charset="0"/>
                        </a:rPr>
                        <a:t>\d{10}</a:t>
                      </a:r>
                    </a:p>
                  </a:txBody>
                  <a:tcPr marL="74360" marR="74360" marT="37180" marB="37180" anchor="ctr"/>
                </a:tc>
                <a:extLst>
                  <a:ext uri="{0D108BD9-81ED-4DB2-BD59-A6C34878D82A}">
                    <a16:rowId xmlns:a16="http://schemas.microsoft.com/office/drawing/2014/main" val="1817280420"/>
                  </a:ext>
                </a:extLst>
              </a:tr>
              <a:tr h="566409">
                <a:tc>
                  <a:txBody>
                    <a:bodyPr/>
                    <a:lstStyle/>
                    <a:p>
                      <a:pPr>
                        <a:lnSpc>
                          <a:spcPct val="150000"/>
                        </a:lnSpc>
                        <a:buNone/>
                      </a:pPr>
                      <a:r>
                        <a:rPr lang="en-IN" sz="2400">
                          <a:latin typeface="Times New Roman" panose="02020603050405020304" pitchFamily="18" charset="0"/>
                          <a:cs typeface="Times New Roman" panose="02020603050405020304" pitchFamily="18" charset="0"/>
                        </a:rPr>
                        <a:t>\w</a:t>
                      </a:r>
                    </a:p>
                  </a:txBody>
                  <a:tcPr marL="74360" marR="74360" marT="37180" marB="37180" anchor="ctr"/>
                </a:tc>
                <a:tc>
                  <a:txBody>
                    <a:bodyPr/>
                    <a:lstStyle/>
                    <a:p>
                      <a:pPr>
                        <a:lnSpc>
                          <a:spcPct val="150000"/>
                        </a:lnSpc>
                        <a:buNone/>
                      </a:pPr>
                      <a:r>
                        <a:rPr lang="en-IN" sz="2400">
                          <a:latin typeface="Times New Roman" panose="02020603050405020304" pitchFamily="18" charset="0"/>
                          <a:cs typeface="Times New Roman" panose="02020603050405020304" pitchFamily="18" charset="0"/>
                        </a:rPr>
                        <a:t>Letter or digit</a:t>
                      </a:r>
                    </a:p>
                  </a:txBody>
                  <a:tcPr marL="74360" marR="74360" marT="37180" marB="37180" anchor="ctr"/>
                </a:tc>
                <a:tc>
                  <a:txBody>
                    <a:bodyPr/>
                    <a:lstStyle/>
                    <a:p>
                      <a:pPr>
                        <a:lnSpc>
                          <a:spcPct val="150000"/>
                        </a:lnSpc>
                        <a:buNone/>
                      </a:pPr>
                      <a:r>
                        <a:rPr lang="en-IN" sz="2400">
                          <a:latin typeface="Times New Roman" panose="02020603050405020304" pitchFamily="18" charset="0"/>
                          <a:cs typeface="Times New Roman" panose="02020603050405020304" pitchFamily="18" charset="0"/>
                        </a:rPr>
                        <a:t>\w+</a:t>
                      </a:r>
                    </a:p>
                  </a:txBody>
                  <a:tcPr marL="74360" marR="74360" marT="37180" marB="37180" anchor="ctr"/>
                </a:tc>
                <a:extLst>
                  <a:ext uri="{0D108BD9-81ED-4DB2-BD59-A6C34878D82A}">
                    <a16:rowId xmlns:a16="http://schemas.microsoft.com/office/drawing/2014/main" val="1661680713"/>
                  </a:ext>
                </a:extLst>
              </a:tr>
              <a:tr h="566409">
                <a:tc>
                  <a:txBody>
                    <a:bodyPr/>
                    <a:lstStyle/>
                    <a:p>
                      <a:pPr>
                        <a:lnSpc>
                          <a:spcPct val="150000"/>
                        </a:lnSpc>
                        <a:buNone/>
                      </a:pPr>
                      <a:r>
                        <a:rPr lang="en-IN" sz="2400">
                          <a:latin typeface="Times New Roman" panose="02020603050405020304" pitchFamily="18" charset="0"/>
                          <a:cs typeface="Times New Roman" panose="02020603050405020304" pitchFamily="18" charset="0"/>
                        </a:rPr>
                        <a:t>\s</a:t>
                      </a:r>
                    </a:p>
                  </a:txBody>
                  <a:tcPr marL="74360" marR="74360" marT="37180" marB="37180" anchor="ctr"/>
                </a:tc>
                <a:tc>
                  <a:txBody>
                    <a:bodyPr/>
                    <a:lstStyle/>
                    <a:p>
                      <a:pPr>
                        <a:lnSpc>
                          <a:spcPct val="150000"/>
                        </a:lnSpc>
                        <a:buNone/>
                      </a:pPr>
                      <a:r>
                        <a:rPr lang="en-IN" sz="2400">
                          <a:latin typeface="Times New Roman" panose="02020603050405020304" pitchFamily="18" charset="0"/>
                          <a:cs typeface="Times New Roman" panose="02020603050405020304" pitchFamily="18" charset="0"/>
                        </a:rPr>
                        <a:t>White space</a:t>
                      </a:r>
                    </a:p>
                  </a:txBody>
                  <a:tcPr marL="74360" marR="74360" marT="37180" marB="37180" anchor="ctr"/>
                </a:tc>
                <a:tc>
                  <a:txBody>
                    <a:bodyPr/>
                    <a:lstStyle/>
                    <a:p>
                      <a:pPr>
                        <a:lnSpc>
                          <a:spcPct val="150000"/>
                        </a:lnSpc>
                        <a:buNone/>
                      </a:pPr>
                      <a:r>
                        <a:rPr lang="en-IN" sz="2400" dirty="0">
                          <a:latin typeface="Times New Roman" panose="02020603050405020304" pitchFamily="18" charset="0"/>
                          <a:cs typeface="Times New Roman" panose="02020603050405020304" pitchFamily="18" charset="0"/>
                        </a:rPr>
                        <a:t>\s</a:t>
                      </a:r>
                    </a:p>
                  </a:txBody>
                  <a:tcPr marL="74360" marR="74360" marT="37180" marB="37180" anchor="ctr"/>
                </a:tc>
                <a:extLst>
                  <a:ext uri="{0D108BD9-81ED-4DB2-BD59-A6C34878D82A}">
                    <a16:rowId xmlns:a16="http://schemas.microsoft.com/office/drawing/2014/main" val="3293077"/>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AB556519-2D29-08CC-6F05-34909590DC05}"/>
              </a:ext>
            </a:extLst>
          </p:cNvPr>
          <p:cNvSpPr>
            <a:spLocks noGrp="1"/>
          </p:cNvSpPr>
          <p:nvPr>
            <p:ph type="title"/>
          </p:nvPr>
        </p:nvSpPr>
        <p:spPr>
          <a:xfrm>
            <a:off x="4718050" y="1006475"/>
            <a:ext cx="10668000" cy="1219200"/>
          </a:xfrm>
        </p:spPr>
        <p:txBody>
          <a:bodyPr/>
          <a:lstStyle/>
          <a:p>
            <a:r>
              <a:rPr lang="en-IN" dirty="0">
                <a:latin typeface="Times New Roman" panose="02020603050405020304" pitchFamily="18" charset="0"/>
                <a:cs typeface="Times New Roman" panose="02020603050405020304" pitchFamily="18" charset="0"/>
              </a:rPr>
              <a:t>Real-World Applications</a:t>
            </a:r>
            <a:br>
              <a:rPr lang="en-IN"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9465338D-2615-32E2-A69C-5C422DB851CE}"/>
              </a:ext>
            </a:extLst>
          </p:cNvPr>
          <p:cNvSpPr txBox="1"/>
          <p:nvPr/>
        </p:nvSpPr>
        <p:spPr>
          <a:xfrm>
            <a:off x="2279650" y="2835275"/>
            <a:ext cx="6781800" cy="7994496"/>
          </a:xfrm>
          <a:prstGeom prst="rect">
            <a:avLst/>
          </a:prstGeom>
          <a:noFill/>
        </p:spPr>
        <p:txBody>
          <a:bodyPr wrap="square">
            <a:spAutoFit/>
          </a:bodyPr>
          <a:lstStyle/>
          <a:p>
            <a:pPr algn="l">
              <a:spcBef>
                <a:spcPts val="1200"/>
              </a:spcBef>
              <a:spcAft>
                <a:spcPts val="300"/>
              </a:spcAft>
              <a:buNone/>
            </a:pPr>
            <a:r>
              <a:rPr lang="en-IN" sz="2800" b="1" dirty="0">
                <a:latin typeface="Times New Roman" panose="02020603050405020304" pitchFamily="18" charset="0"/>
                <a:cs typeface="Times New Roman" panose="02020603050405020304" pitchFamily="18" charset="0"/>
              </a:rPr>
              <a:t>Applications of Regular Expressions</a:t>
            </a:r>
          </a:p>
          <a:p>
            <a:pPr marL="342900" indent="-342900">
              <a:lnSpc>
                <a:spcPct val="150000"/>
              </a:lnSpc>
              <a:buFont typeface="Arial" panose="020B0604020202020204" pitchFamily="34" charset="0"/>
              <a:buChar char="•"/>
            </a:pPr>
            <a:r>
              <a:rPr lang="en-IN" sz="2600" dirty="0">
                <a:latin typeface="Times New Roman" panose="02020603050405020304" pitchFamily="18" charset="0"/>
                <a:cs typeface="Times New Roman" panose="02020603050405020304" pitchFamily="18" charset="0"/>
              </a:rPr>
              <a:t>Email validation</a:t>
            </a:r>
          </a:p>
          <a:p>
            <a:pPr marL="342900" indent="-342900">
              <a:lnSpc>
                <a:spcPct val="150000"/>
              </a:lnSpc>
              <a:buFont typeface="Arial" panose="020B0604020202020204" pitchFamily="34" charset="0"/>
              <a:buChar char="•"/>
            </a:pPr>
            <a:r>
              <a:rPr lang="en-IN" sz="2600" dirty="0">
                <a:latin typeface="Times New Roman" panose="02020603050405020304" pitchFamily="18" charset="0"/>
                <a:cs typeface="Times New Roman" panose="02020603050405020304" pitchFamily="18" charset="0"/>
              </a:rPr>
              <a:t>Phone number validation</a:t>
            </a:r>
          </a:p>
          <a:p>
            <a:pPr marL="342900" indent="-342900">
              <a:lnSpc>
                <a:spcPct val="150000"/>
              </a:lnSpc>
              <a:buFont typeface="Arial" panose="020B0604020202020204" pitchFamily="34" charset="0"/>
              <a:buChar char="•"/>
            </a:pPr>
            <a:r>
              <a:rPr lang="en-IN" sz="2600" dirty="0">
                <a:latin typeface="Times New Roman" panose="02020603050405020304" pitchFamily="18" charset="0"/>
                <a:cs typeface="Times New Roman" panose="02020603050405020304" pitchFamily="18" charset="0"/>
              </a:rPr>
              <a:t>Password validation</a:t>
            </a:r>
          </a:p>
          <a:p>
            <a:pPr marL="342900" indent="-342900">
              <a:lnSpc>
                <a:spcPct val="150000"/>
              </a:lnSpc>
              <a:buFont typeface="Arial" panose="020B0604020202020204" pitchFamily="34" charset="0"/>
              <a:buChar char="•"/>
            </a:pPr>
            <a:r>
              <a:rPr lang="en-IN" sz="2600" dirty="0">
                <a:latin typeface="Times New Roman" panose="02020603050405020304" pitchFamily="18" charset="0"/>
                <a:cs typeface="Times New Roman" panose="02020603050405020304" pitchFamily="18" charset="0"/>
              </a:rPr>
              <a:t>URL extraction</a:t>
            </a:r>
          </a:p>
          <a:p>
            <a:pPr marL="342900" indent="-342900">
              <a:lnSpc>
                <a:spcPct val="150000"/>
              </a:lnSpc>
              <a:buFont typeface="Arial" panose="020B0604020202020204" pitchFamily="34" charset="0"/>
              <a:buChar char="•"/>
            </a:pPr>
            <a:r>
              <a:rPr lang="en-IN" sz="2600" dirty="0">
                <a:latin typeface="Times New Roman" panose="02020603050405020304" pitchFamily="18" charset="0"/>
                <a:cs typeface="Times New Roman" panose="02020603050405020304" pitchFamily="18" charset="0"/>
              </a:rPr>
              <a:t>Date format validation</a:t>
            </a:r>
          </a:p>
          <a:p>
            <a:pPr marL="342900" indent="-342900">
              <a:lnSpc>
                <a:spcPct val="150000"/>
              </a:lnSpc>
              <a:buFont typeface="Arial" panose="020B0604020202020204" pitchFamily="34" charset="0"/>
              <a:buChar char="•"/>
            </a:pPr>
            <a:r>
              <a:rPr lang="en-IN" sz="2600" dirty="0">
                <a:latin typeface="Times New Roman" panose="02020603050405020304" pitchFamily="18" charset="0"/>
                <a:cs typeface="Times New Roman" panose="02020603050405020304" pitchFamily="18" charset="0"/>
              </a:rPr>
              <a:t>Log file analysis</a:t>
            </a:r>
          </a:p>
          <a:p>
            <a:pPr marL="342900" indent="-342900">
              <a:lnSpc>
                <a:spcPct val="150000"/>
              </a:lnSpc>
              <a:buFont typeface="Arial" panose="020B0604020202020204" pitchFamily="34" charset="0"/>
              <a:buChar char="•"/>
            </a:pPr>
            <a:r>
              <a:rPr lang="en-IN" sz="2600" dirty="0">
                <a:latin typeface="Times New Roman" panose="02020603050405020304" pitchFamily="18" charset="0"/>
                <a:cs typeface="Times New Roman" panose="02020603050405020304" pitchFamily="18" charset="0"/>
              </a:rPr>
              <a:t>Data cleaning</a:t>
            </a:r>
          </a:p>
          <a:p>
            <a:pPr marL="342900" indent="-342900">
              <a:lnSpc>
                <a:spcPct val="150000"/>
              </a:lnSpc>
              <a:buFont typeface="Arial" panose="020B0604020202020204" pitchFamily="34" charset="0"/>
              <a:buChar char="•"/>
            </a:pPr>
            <a:r>
              <a:rPr lang="en-IN" sz="2600" dirty="0">
                <a:latin typeface="Times New Roman" panose="02020603050405020304" pitchFamily="18" charset="0"/>
                <a:cs typeface="Times New Roman" panose="02020603050405020304" pitchFamily="18" charset="0"/>
              </a:rPr>
              <a:t>Search engines</a:t>
            </a:r>
          </a:p>
          <a:p>
            <a:pPr marL="342900" indent="-342900">
              <a:lnSpc>
                <a:spcPct val="150000"/>
              </a:lnSpc>
              <a:buFont typeface="Arial" panose="020B0604020202020204" pitchFamily="34" charset="0"/>
              <a:buChar char="•"/>
            </a:pPr>
            <a:r>
              <a:rPr lang="en-IN" sz="2600" dirty="0">
                <a:latin typeface="Times New Roman" panose="02020603050405020304" pitchFamily="18" charset="0"/>
                <a:cs typeface="Times New Roman" panose="02020603050405020304" pitchFamily="18" charset="0"/>
              </a:rPr>
              <a:t>Chatbots and NLP</a:t>
            </a:r>
          </a:p>
          <a:p>
            <a:endParaRPr lang="en-IN" sz="2400" dirty="0">
              <a:latin typeface="Times New Roman" panose="02020603050405020304" pitchFamily="18" charset="0"/>
              <a:cs typeface="Times New Roman" panose="02020603050405020304" pitchFamily="18" charset="0"/>
            </a:endParaRPr>
          </a:p>
          <a:p>
            <a:r>
              <a:rPr lang="en-IN" sz="3600" b="1" dirty="0">
                <a:latin typeface="Times New Roman" panose="02020603050405020304" pitchFamily="18" charset="0"/>
                <a:cs typeface="Times New Roman" panose="02020603050405020304" pitchFamily="18" charset="0"/>
              </a:rPr>
              <a:t>Example</a:t>
            </a:r>
          </a:p>
          <a:p>
            <a:r>
              <a:rPr lang="en-IN" sz="2400" b="1" dirty="0">
                <a:latin typeface="Times New Roman" panose="02020603050405020304" pitchFamily="18" charset="0"/>
                <a:cs typeface="Times New Roman" panose="02020603050405020304" pitchFamily="18" charset="0"/>
              </a:rPr>
              <a:t>Email:</a:t>
            </a:r>
            <a:r>
              <a:rPr lang="en-IN" sz="2400" dirty="0">
                <a:latin typeface="Times New Roman" panose="02020603050405020304" pitchFamily="18" charset="0"/>
                <a:cs typeface="Times New Roman" panose="02020603050405020304" pitchFamily="18" charset="0"/>
              </a:rPr>
              <a:t> student@gmail.com</a:t>
            </a:r>
          </a:p>
          <a:p>
            <a:r>
              <a:rPr lang="en-IN" sz="2400" b="1" dirty="0">
                <a:latin typeface="Times New Roman" panose="02020603050405020304" pitchFamily="18" charset="0"/>
                <a:cs typeface="Times New Roman" panose="02020603050405020304" pitchFamily="18" charset="0"/>
              </a:rPr>
              <a:t>Phone:</a:t>
            </a:r>
            <a:r>
              <a:rPr lang="en-IN" sz="2400" dirty="0">
                <a:latin typeface="Times New Roman" panose="02020603050405020304" pitchFamily="18" charset="0"/>
                <a:cs typeface="Times New Roman" panose="02020603050405020304" pitchFamily="18" charset="0"/>
              </a:rPr>
              <a:t> 9876543210</a:t>
            </a:r>
          </a:p>
          <a:p>
            <a:r>
              <a:rPr lang="en-IN" sz="2400" b="1" dirty="0">
                <a:latin typeface="Times New Roman" panose="02020603050405020304" pitchFamily="18" charset="0"/>
                <a:cs typeface="Times New Roman" panose="02020603050405020304" pitchFamily="18" charset="0"/>
              </a:rPr>
              <a:t>URL:</a:t>
            </a:r>
            <a:r>
              <a:rPr lang="en-IN" sz="2400" dirty="0">
                <a:latin typeface="Times New Roman" panose="02020603050405020304" pitchFamily="18" charset="0"/>
                <a:cs typeface="Times New Roman" panose="02020603050405020304" pitchFamily="18" charset="0"/>
              </a:rPr>
              <a:t> https://example.com</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534072-3265-E802-58FF-BA6968282FA4}"/>
              </a:ext>
            </a:extLst>
          </p:cNvPr>
          <p:cNvSpPr>
            <a:spLocks noGrp="1"/>
          </p:cNvSpPr>
          <p:nvPr>
            <p:ph type="title"/>
          </p:nvPr>
        </p:nvSpPr>
        <p:spPr>
          <a:xfrm>
            <a:off x="6280150" y="701675"/>
            <a:ext cx="7543800" cy="923330"/>
          </a:xfrm>
        </p:spPr>
        <p:txBody>
          <a:bodyPr/>
          <a:lstStyle/>
          <a:p>
            <a:pPr algn="just"/>
            <a:r>
              <a:rPr lang="en-IN" sz="6000" dirty="0">
                <a:latin typeface="Times New Roman" panose="02020603050405020304" pitchFamily="18" charset="0"/>
                <a:cs typeface="Times New Roman" panose="02020603050405020304" pitchFamily="18" charset="0"/>
              </a:rPr>
              <a:t>Python Demonstration</a:t>
            </a:r>
          </a:p>
        </p:txBody>
      </p:sp>
      <p:pic>
        <p:nvPicPr>
          <p:cNvPr id="8" name="Picture 7">
            <a:extLst>
              <a:ext uri="{FF2B5EF4-FFF2-40B4-BE49-F238E27FC236}">
                <a16:creationId xmlns:a16="http://schemas.microsoft.com/office/drawing/2014/main" id="{7EC54C07-F607-1B42-27FC-855EEEFDA58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8050" y="2073275"/>
            <a:ext cx="18288000" cy="8724900"/>
          </a:xfrm>
          <a:prstGeom prst="rect">
            <a:avLst/>
          </a:prstGeom>
        </p:spPr>
      </p:pic>
    </p:spTree>
    <p:extLst>
      <p:ext uri="{BB962C8B-B14F-4D97-AF65-F5344CB8AC3E}">
        <p14:creationId xmlns:p14="http://schemas.microsoft.com/office/powerpoint/2010/main" val="18775025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3C3F5202-445D-F268-054B-8F4BDEC01C1F}"/>
              </a:ext>
            </a:extLst>
          </p:cNvPr>
          <p:cNvSpPr>
            <a:spLocks noGrp="1"/>
          </p:cNvSpPr>
          <p:nvPr>
            <p:ph type="body" idx="1"/>
          </p:nvPr>
        </p:nvSpPr>
        <p:spPr>
          <a:xfrm>
            <a:off x="2355850" y="2149475"/>
            <a:ext cx="11734799" cy="8047844"/>
          </a:xfrm>
        </p:spPr>
        <p:txBody>
          <a:bodyPr/>
          <a:lstStyle/>
          <a:p>
            <a:pPr>
              <a:lnSpc>
                <a:spcPct val="150000"/>
              </a:lnSpc>
            </a:pPr>
            <a:r>
              <a:rPr lang="en-US" sz="3600" b="1" dirty="0">
                <a:latin typeface="Times New Roman" panose="02020603050405020304" pitchFamily="18" charset="0"/>
                <a:cs typeface="Times New Roman" panose="02020603050405020304" pitchFamily="18" charset="0"/>
              </a:rPr>
              <a:t>Advantages</a:t>
            </a:r>
          </a:p>
          <a:p>
            <a:pPr marL="457200" indent="-457200">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Fast and accurate pattern matching.</a:t>
            </a:r>
          </a:p>
          <a:p>
            <a:pPr marL="457200" indent="-457200">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Automates repetitive text-processing tasks.</a:t>
            </a:r>
          </a:p>
          <a:p>
            <a:pPr marL="457200" indent="-457200">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Saves time and reduces manual effort.</a:t>
            </a:r>
          </a:p>
          <a:p>
            <a:pPr marL="457200" indent="-457200">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Works efficiently with large datasets.</a:t>
            </a:r>
          </a:p>
          <a:p>
            <a:pPr marL="457200" indent="-457200">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Easy to integrate with programming languages.</a:t>
            </a:r>
          </a:p>
          <a:p>
            <a:pPr>
              <a:lnSpc>
                <a:spcPct val="150000"/>
              </a:lnSpc>
            </a:pPr>
            <a:endParaRPr lang="en-US" sz="2800" dirty="0">
              <a:latin typeface="Times New Roman" panose="02020603050405020304" pitchFamily="18" charset="0"/>
              <a:cs typeface="Times New Roman" panose="02020603050405020304" pitchFamily="18" charset="0"/>
            </a:endParaRPr>
          </a:p>
          <a:p>
            <a:pPr>
              <a:lnSpc>
                <a:spcPct val="150000"/>
              </a:lnSpc>
            </a:pPr>
            <a:r>
              <a:rPr lang="en-US" sz="3600" b="1" dirty="0">
                <a:latin typeface="Times New Roman" panose="02020603050405020304" pitchFamily="18" charset="0"/>
                <a:cs typeface="Times New Roman" panose="02020603050405020304" pitchFamily="18" charset="0"/>
              </a:rPr>
              <a:t>Limitations</a:t>
            </a:r>
          </a:p>
          <a:p>
            <a:pPr marL="457200" indent="-457200">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Complex regex patterns can be difficult to understand.</a:t>
            </a:r>
          </a:p>
          <a:p>
            <a:pPr marL="457200" indent="-457200">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Small syntax errors may lead to incorrect matches.</a:t>
            </a:r>
          </a:p>
          <a:p>
            <a:pPr marL="457200" indent="-457200">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Not suitable for understanding the meaning or context of text.</a:t>
            </a:r>
          </a:p>
          <a:p>
            <a:pPr marL="457200" indent="-457200">
              <a:lnSpc>
                <a:spcPct val="150000"/>
              </a:lnSpc>
              <a:buFont typeface="Arial" panose="020B0604020202020204" pitchFamily="34" charset="0"/>
              <a:buChar char="•"/>
            </a:pPr>
            <a:endParaRPr lang="en-IN" sz="2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F171253-7B41-1DFB-F539-4C2AC18CBCA2}"/>
              </a:ext>
            </a:extLst>
          </p:cNvPr>
          <p:cNvSpPr txBox="1"/>
          <p:nvPr/>
        </p:nvSpPr>
        <p:spPr>
          <a:xfrm>
            <a:off x="2736850" y="2880005"/>
            <a:ext cx="12573000" cy="5687839"/>
          </a:xfrm>
          <a:prstGeom prst="rect">
            <a:avLst/>
          </a:prstGeom>
          <a:noFill/>
        </p:spPr>
        <p:txBody>
          <a:bodyPr wrap="square">
            <a:spAutoFit/>
          </a:bodyPr>
          <a:lstStyle/>
          <a:p>
            <a:pPr>
              <a:lnSpc>
                <a:spcPct val="150000"/>
              </a:lnSpc>
            </a:pPr>
            <a:r>
              <a:rPr lang="en-US" sz="3600" b="1" dirty="0">
                <a:latin typeface="Times New Roman" panose="02020603050405020304" pitchFamily="18" charset="0"/>
                <a:cs typeface="Times New Roman" panose="02020603050405020304" pitchFamily="18" charset="0"/>
              </a:rPr>
              <a:t>Conclusion</a:t>
            </a:r>
          </a:p>
          <a:p>
            <a:pPr marL="457200" indent="-457200">
              <a:lnSpc>
                <a:spcPct val="150000"/>
              </a:lnSpc>
              <a:buFont typeface="Arial" panose="020B0604020202020204" pitchFamily="34" charset="0"/>
              <a:buChar char="•"/>
            </a:pPr>
            <a:r>
              <a:rPr lang="en-US" sz="3000" dirty="0">
                <a:latin typeface="Times New Roman" panose="02020603050405020304" pitchFamily="18" charset="0"/>
                <a:cs typeface="Times New Roman" panose="02020603050405020304" pitchFamily="18" charset="0"/>
              </a:rPr>
              <a:t>Regular Expressions are a powerful tool for searching, validating, and extracting text.</a:t>
            </a:r>
          </a:p>
          <a:p>
            <a:pPr marL="457200" indent="-457200">
              <a:lnSpc>
                <a:spcPct val="150000"/>
              </a:lnSpc>
              <a:buFont typeface="Arial" panose="020B0604020202020204" pitchFamily="34" charset="0"/>
              <a:buChar char="•"/>
            </a:pPr>
            <a:r>
              <a:rPr lang="en-US" sz="3000" dirty="0">
                <a:latin typeface="Times New Roman" panose="02020603050405020304" pitchFamily="18" charset="0"/>
                <a:cs typeface="Times New Roman" panose="02020603050405020304" pitchFamily="18" charset="0"/>
              </a:rPr>
              <a:t>They improve the efficiency and accuracy of text processing.</a:t>
            </a:r>
          </a:p>
          <a:p>
            <a:pPr marL="457200" indent="-457200">
              <a:lnSpc>
                <a:spcPct val="150000"/>
              </a:lnSpc>
              <a:buFont typeface="Arial" panose="020B0604020202020204" pitchFamily="34" charset="0"/>
              <a:buChar char="•"/>
            </a:pPr>
            <a:r>
              <a:rPr lang="en-US" sz="3000" dirty="0">
                <a:latin typeface="Times New Roman" panose="02020603050405020304" pitchFamily="18" charset="0"/>
                <a:cs typeface="Times New Roman" panose="02020603050405020304" pitchFamily="18" charset="0"/>
              </a:rPr>
              <a:t>Regex is widely used in software development, data analytics, cybersecurity, and NLP.</a:t>
            </a:r>
          </a:p>
          <a:p>
            <a:pPr marL="457200" indent="-457200">
              <a:lnSpc>
                <a:spcPct val="150000"/>
              </a:lnSpc>
              <a:buFont typeface="Arial" panose="020B0604020202020204" pitchFamily="34" charset="0"/>
              <a:buChar char="•"/>
            </a:pPr>
            <a:r>
              <a:rPr lang="en-US" sz="3000" dirty="0">
                <a:latin typeface="Times New Roman" panose="02020603050405020304" pitchFamily="18" charset="0"/>
                <a:cs typeface="Times New Roman" panose="02020603050405020304" pitchFamily="18" charset="0"/>
              </a:rPr>
              <a:t>Learning Regex helps developers automate text-related tasks and build intelligent applications.</a:t>
            </a:r>
            <a:endParaRPr lang="en-US" sz="3000" b="0" i="0" dirty="0">
              <a:solidFill>
                <a:srgbClr val="FFFFFF"/>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607909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4363F3-9C49-8F0A-564E-8DF35C164DF6}"/>
              </a:ext>
            </a:extLst>
          </p:cNvPr>
          <p:cNvSpPr>
            <a:spLocks noGrp="1"/>
          </p:cNvSpPr>
          <p:nvPr>
            <p:ph type="title"/>
          </p:nvPr>
        </p:nvSpPr>
        <p:spPr>
          <a:xfrm>
            <a:off x="6013450" y="3902075"/>
            <a:ext cx="8915400" cy="1477328"/>
          </a:xfrm>
        </p:spPr>
        <p:txBody>
          <a:bodyPr/>
          <a:lstStyle/>
          <a:p>
            <a:r>
              <a:rPr lang="en-IN" sz="9600" dirty="0">
                <a:latin typeface="Times New Roman" panose="02020603050405020304" pitchFamily="18" charset="0"/>
                <a:cs typeface="Times New Roman" panose="02020603050405020304" pitchFamily="18" charset="0"/>
              </a:rPr>
              <a:t>Thank you</a:t>
            </a:r>
          </a:p>
        </p:txBody>
      </p:sp>
    </p:spTree>
    <p:extLst>
      <p:ext uri="{BB962C8B-B14F-4D97-AF65-F5344CB8AC3E}">
        <p14:creationId xmlns:p14="http://schemas.microsoft.com/office/powerpoint/2010/main" val="131592759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686</TotalTime>
  <Words>373</Words>
  <Application>Microsoft Office PowerPoint</Application>
  <PresentationFormat>Custom</PresentationFormat>
  <Paragraphs>88</Paragraphs>
  <Slides>8</Slides>
  <Notes>1</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1</vt:i4>
      </vt:variant>
      <vt:variant>
        <vt:lpstr>Slide Titles</vt:lpstr>
      </vt:variant>
      <vt:variant>
        <vt:i4>8</vt:i4>
      </vt:variant>
    </vt:vector>
  </HeadingPairs>
  <TitlesOfParts>
    <vt:vector size="14" baseType="lpstr">
      <vt:lpstr>Arial</vt:lpstr>
      <vt:lpstr>Calibri</vt:lpstr>
      <vt:lpstr>Times New Roman</vt:lpstr>
      <vt:lpstr>Wingdings</vt:lpstr>
      <vt:lpstr>Office Theme</vt:lpstr>
      <vt:lpstr>Worksheet</vt:lpstr>
      <vt:lpstr>SIMATS ENGINEERING</vt:lpstr>
      <vt:lpstr>Introduction</vt:lpstr>
      <vt:lpstr>PowerPoint Presentation</vt:lpstr>
      <vt:lpstr>Real-World Applications </vt:lpstr>
      <vt:lpstr>Python Demonstration</vt:lpstr>
      <vt:lpstr>PowerPoint Presentation</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CS1519 - Cloud Computing and Bigdata Analytics Capstone Project Template_Updated</dc:title>
  <dc:creator>RAVITEJA INABATHUNI</dc:creator>
  <cp:lastModifiedBy>Dedeepya Kadiyala</cp:lastModifiedBy>
  <cp:revision>18</cp:revision>
  <dcterms:created xsi:type="dcterms:W3CDTF">2025-08-24T10:18:02Z</dcterms:created>
  <dcterms:modified xsi:type="dcterms:W3CDTF">2026-07-22T05:44:36Z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2025-08-24T00:00:00Z</vt:filetime>
  </property>
  <property fmtid="{D5CDD505-2E9C-101B-9397-08002B2CF9AE}" pid="3" name="Creator">
    <vt:lpwstr>Google</vt:lpwstr>
  </property>
  <property fmtid="{D5CDD505-2E9C-101B-9397-08002B2CF9AE}" pid="4" name="LastSaved">
    <vt:filetime>2025-08-24T00:00:00Z</vt:filetime>
  </property>
</Properties>
</file>